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Prata" panose="020B0604020202020204" charset="0"/>
      <p:regular r:id="rId23"/>
    </p:embeddedFont>
    <p:embeddedFont>
      <p:font typeface="Raleway 1" panose="020B0604020202020204" charset="0"/>
      <p:regular r:id="rId24"/>
    </p:embeddedFont>
    <p:embeddedFont>
      <p:font typeface="Raleway 1 Bold" panose="020B0604020202020204" charset="0"/>
      <p:regular r:id="rId25"/>
    </p:embeddedFont>
    <p:embeddedFont>
      <p:font typeface="Raleway 2" panose="020B0604020202020204" charset="0"/>
      <p:regular r:id="rId26"/>
    </p:embeddedFont>
    <p:embeddedFont>
      <p:font typeface="Raleway 2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104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1985402" y="2628907"/>
            <a:ext cx="14317196" cy="2988869"/>
          </a:xfrm>
          <a:prstGeom prst="rect">
            <a:avLst/>
          </a:prstGeom>
        </p:spPr>
        <p:txBody>
          <a:bodyPr lIns="0" tIns="0" rIns="0" bIns="0" rtlCol="0" anchor="t">
            <a:spAutoFit/>
          </a:bodyPr>
          <a:lstStyle/>
          <a:p>
            <a:pPr algn="ctr">
              <a:lnSpc>
                <a:spcPts val="11547"/>
              </a:lnSpc>
            </a:pPr>
            <a:r>
              <a:rPr lang="en-US" sz="11547">
                <a:solidFill>
                  <a:srgbClr val="344E41"/>
                </a:solidFill>
                <a:latin typeface="Prata"/>
                <a:ea typeface="Prata"/>
                <a:cs typeface="Prata"/>
                <a:sym typeface="Prata"/>
              </a:rPr>
              <a:t>SUPPLY  CHAIN</a:t>
            </a:r>
          </a:p>
          <a:p>
            <a:pPr algn="ctr">
              <a:lnSpc>
                <a:spcPts val="11547"/>
              </a:lnSpc>
            </a:pPr>
            <a:r>
              <a:rPr lang="en-US" sz="11547">
                <a:solidFill>
                  <a:srgbClr val="344E41"/>
                </a:solidFill>
                <a:latin typeface="Prata"/>
                <a:ea typeface="Prata"/>
                <a:cs typeface="Prata"/>
                <a:sym typeface="Prata"/>
              </a:rPr>
              <a:t>OPTIMIZATION</a:t>
            </a: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6187109" y="7760110"/>
            <a:ext cx="5913783" cy="986155"/>
          </a:xfrm>
          <a:prstGeom prst="rect">
            <a:avLst/>
          </a:prstGeom>
        </p:spPr>
        <p:txBody>
          <a:bodyPr lIns="0" tIns="0" rIns="0" bIns="0" rtlCol="0" anchor="t">
            <a:spAutoFit/>
          </a:bodyPr>
          <a:lstStyle/>
          <a:p>
            <a:pPr algn="ctr">
              <a:lnSpc>
                <a:spcPts val="3919"/>
              </a:lnSpc>
            </a:pPr>
            <a:r>
              <a:rPr lang="en-US" sz="2799">
                <a:solidFill>
                  <a:srgbClr val="000000"/>
                </a:solidFill>
                <a:latin typeface="Raleway 1"/>
                <a:ea typeface="Raleway 1"/>
                <a:cs typeface="Raleway 1"/>
                <a:sym typeface="Raleway 1"/>
              </a:rPr>
              <a:t>Marjari Pusadkar</a:t>
            </a:r>
          </a:p>
          <a:p>
            <a:pPr algn="ctr">
              <a:lnSpc>
                <a:spcPts val="3919"/>
              </a:lnSpc>
            </a:pPr>
            <a:r>
              <a:rPr lang="en-US" sz="2799">
                <a:solidFill>
                  <a:srgbClr val="000000"/>
                </a:solidFill>
                <a:latin typeface="Raleway 1"/>
                <a:ea typeface="Raleway 1"/>
                <a:cs typeface="Raleway 1"/>
                <a:sym typeface="Raleway 1"/>
              </a:rPr>
              <a:t>23030124031</a:t>
            </a:r>
          </a:p>
        </p:txBody>
      </p:sp>
      <p:sp>
        <p:nvSpPr>
          <p:cNvPr id="6" name="TextBox 6"/>
          <p:cNvSpPr txBox="1"/>
          <p:nvPr/>
        </p:nvSpPr>
        <p:spPr>
          <a:xfrm>
            <a:off x="14091936" y="7760110"/>
            <a:ext cx="3167364" cy="986155"/>
          </a:xfrm>
          <a:prstGeom prst="rect">
            <a:avLst/>
          </a:prstGeom>
        </p:spPr>
        <p:txBody>
          <a:bodyPr lIns="0" tIns="0" rIns="0" bIns="0" rtlCol="0" anchor="t">
            <a:spAutoFit/>
          </a:bodyPr>
          <a:lstStyle/>
          <a:p>
            <a:pPr algn="r">
              <a:lnSpc>
                <a:spcPts val="3919"/>
              </a:lnSpc>
            </a:pPr>
            <a:r>
              <a:rPr lang="en-US" sz="2799">
                <a:solidFill>
                  <a:srgbClr val="000000"/>
                </a:solidFill>
                <a:latin typeface="Raleway 1"/>
                <a:ea typeface="Raleway 1"/>
                <a:cs typeface="Raleway 1"/>
                <a:sym typeface="Raleway 1"/>
              </a:rPr>
              <a:t>Sanchi Mittal</a:t>
            </a:r>
          </a:p>
          <a:p>
            <a:pPr algn="r">
              <a:lnSpc>
                <a:spcPts val="3919"/>
              </a:lnSpc>
            </a:pPr>
            <a:r>
              <a:rPr lang="en-US" sz="2799">
                <a:solidFill>
                  <a:srgbClr val="000000"/>
                </a:solidFill>
                <a:latin typeface="Raleway 1"/>
                <a:ea typeface="Raleway 1"/>
                <a:cs typeface="Raleway 1"/>
                <a:sym typeface="Raleway 1"/>
              </a:rPr>
              <a:t>23030124265</a:t>
            </a:r>
          </a:p>
        </p:txBody>
      </p:sp>
      <p:sp>
        <p:nvSpPr>
          <p:cNvPr id="7" name="TextBox 7"/>
          <p:cNvSpPr txBox="1"/>
          <p:nvPr/>
        </p:nvSpPr>
        <p:spPr>
          <a:xfrm>
            <a:off x="1028700" y="7760110"/>
            <a:ext cx="2956891" cy="986155"/>
          </a:xfrm>
          <a:prstGeom prst="rect">
            <a:avLst/>
          </a:prstGeom>
        </p:spPr>
        <p:txBody>
          <a:bodyPr lIns="0" tIns="0" rIns="0" bIns="0" rtlCol="0" anchor="t">
            <a:spAutoFit/>
          </a:bodyPr>
          <a:lstStyle/>
          <a:p>
            <a:pPr algn="l">
              <a:lnSpc>
                <a:spcPts val="3919"/>
              </a:lnSpc>
            </a:pPr>
            <a:r>
              <a:rPr lang="en-US" sz="2799">
                <a:solidFill>
                  <a:srgbClr val="000000"/>
                </a:solidFill>
                <a:latin typeface="Raleway 1"/>
                <a:ea typeface="Raleway 1"/>
                <a:cs typeface="Raleway 1"/>
                <a:sym typeface="Raleway 1"/>
              </a:rPr>
              <a:t>Pankhuri Jain</a:t>
            </a:r>
          </a:p>
          <a:p>
            <a:pPr algn="l">
              <a:lnSpc>
                <a:spcPts val="3919"/>
              </a:lnSpc>
            </a:pPr>
            <a:r>
              <a:rPr lang="en-US" sz="2799">
                <a:solidFill>
                  <a:srgbClr val="000000"/>
                </a:solidFill>
                <a:latin typeface="Raleway 1"/>
                <a:ea typeface="Raleway 1"/>
                <a:cs typeface="Raleway 1"/>
                <a:sym typeface="Raleway 1"/>
              </a:rPr>
              <a:t>23030124029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9144000" y="219075"/>
          <a:ext cx="7017659" cy="9810745"/>
        </p:xfrm>
        <a:graphic>
          <a:graphicData uri="http://schemas.openxmlformats.org/drawingml/2006/table">
            <a:tbl>
              <a:tblPr/>
              <a:tblGrid>
                <a:gridCol w="933788">
                  <a:extLst>
                    <a:ext uri="{9D8B030D-6E8A-4147-A177-3AD203B41FA5}">
                      <a16:colId xmlns:a16="http://schemas.microsoft.com/office/drawing/2014/main" val="20000"/>
                    </a:ext>
                  </a:extLst>
                </a:gridCol>
                <a:gridCol w="5415896">
                  <a:extLst>
                    <a:ext uri="{9D8B030D-6E8A-4147-A177-3AD203B41FA5}">
                      <a16:colId xmlns:a16="http://schemas.microsoft.com/office/drawing/2014/main" val="20001"/>
                    </a:ext>
                  </a:extLst>
                </a:gridCol>
              </a:tblGrid>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01</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Problem Definition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02</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Technology used</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03</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Flowchart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04</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Data Collection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05</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Understanding and preprocessing </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06</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Analytics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07</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Model selection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08</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ML/Time series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09</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Model training</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10</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Optimization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11</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Visualization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817562">
                <a:tc>
                  <a:txBody>
                    <a:bodyPr/>
                    <a:lstStyle/>
                    <a:p>
                      <a:pPr algn="l">
                        <a:lnSpc>
                          <a:spcPts val="2799"/>
                        </a:lnSpc>
                        <a:defRPr/>
                      </a:pPr>
                      <a:r>
                        <a:rPr lang="en-US" sz="1999" b="1">
                          <a:solidFill>
                            <a:srgbClr val="000000"/>
                          </a:solidFill>
                          <a:latin typeface="Raleway 1 Bold"/>
                          <a:ea typeface="Raleway 1 Bold"/>
                          <a:cs typeface="Raleway 1 Bold"/>
                          <a:sym typeface="Raleway 1 Bold"/>
                        </a:rPr>
                        <a:t>12</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b="1">
                          <a:solidFill>
                            <a:srgbClr val="000000"/>
                          </a:solidFill>
                          <a:latin typeface="Raleway 1 Bold"/>
                          <a:ea typeface="Raleway 1 Bold"/>
                          <a:cs typeface="Raleway 1 Bold"/>
                          <a:sym typeface="Raleway 1 Bold"/>
                        </a:rPr>
                        <a:t>Conclusion </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3" name="Freeform 3"/>
          <p:cNvSpPr/>
          <p:nvPr/>
        </p:nvSpPr>
        <p:spPr>
          <a:xfrm>
            <a:off x="-706637"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325318"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604641" y="2439692"/>
            <a:ext cx="6531462" cy="785704"/>
          </a:xfrm>
          <a:prstGeom prst="rect">
            <a:avLst/>
          </a:prstGeom>
        </p:spPr>
        <p:txBody>
          <a:bodyPr lIns="0" tIns="0" rIns="0" bIns="0" rtlCol="0" anchor="t">
            <a:spAutoFit/>
          </a:bodyPr>
          <a:lstStyle/>
          <a:p>
            <a:pPr marL="0" lvl="0" indent="0" algn="just">
              <a:lnSpc>
                <a:spcPts val="5808"/>
              </a:lnSpc>
              <a:spcBef>
                <a:spcPct val="0"/>
              </a:spcBef>
            </a:pPr>
            <a:r>
              <a:rPr lang="en-US" sz="5808" b="1" spc="-458">
                <a:solidFill>
                  <a:srgbClr val="FFFFFF"/>
                </a:solidFill>
                <a:latin typeface="Raleway 2 Bold"/>
                <a:ea typeface="Raleway 2 Bold"/>
                <a:cs typeface="Raleway 2 Bold"/>
                <a:sym typeface="Raleway 2 Bold"/>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TextBox 4"/>
          <p:cNvSpPr txBox="1"/>
          <p:nvPr/>
        </p:nvSpPr>
        <p:spPr>
          <a:xfrm>
            <a:off x="1028700" y="933450"/>
            <a:ext cx="10046668" cy="821055"/>
          </a:xfrm>
          <a:prstGeom prst="rect">
            <a:avLst/>
          </a:prstGeom>
        </p:spPr>
        <p:txBody>
          <a:bodyPr lIns="0" tIns="0" rIns="0" bIns="0" rtlCol="0" anchor="t">
            <a:spAutoFit/>
          </a:bodyPr>
          <a:lstStyle/>
          <a:p>
            <a:pPr algn="l">
              <a:lnSpc>
                <a:spcPts val="6719"/>
              </a:lnSpc>
            </a:pPr>
            <a:r>
              <a:rPr lang="en-US" sz="4800">
                <a:solidFill>
                  <a:srgbClr val="344E41"/>
                </a:solidFill>
                <a:latin typeface="Prata"/>
                <a:ea typeface="Prata"/>
                <a:cs typeface="Prata"/>
                <a:sym typeface="Prata"/>
              </a:rPr>
              <a:t>PROBLEM DEFINITION</a:t>
            </a:r>
          </a:p>
        </p:txBody>
      </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3</a:t>
            </a:r>
          </a:p>
        </p:txBody>
      </p:sp>
      <p:sp>
        <p:nvSpPr>
          <p:cNvPr id="6" name="TextBox 6"/>
          <p:cNvSpPr txBox="1"/>
          <p:nvPr/>
        </p:nvSpPr>
        <p:spPr>
          <a:xfrm>
            <a:off x="1028700" y="2131533"/>
            <a:ext cx="14077743" cy="1672590"/>
          </a:xfrm>
          <a:prstGeom prst="rect">
            <a:avLst/>
          </a:prstGeom>
        </p:spPr>
        <p:txBody>
          <a:bodyPr lIns="0" tIns="0" rIns="0" bIns="0" rtlCol="0" anchor="t">
            <a:spAutoFit/>
          </a:bodyPr>
          <a:lstStyle/>
          <a:p>
            <a:pPr marL="0" lvl="0" indent="0" algn="l">
              <a:lnSpc>
                <a:spcPts val="3359"/>
              </a:lnSpc>
              <a:spcBef>
                <a:spcPct val="0"/>
              </a:spcBef>
            </a:pPr>
            <a:r>
              <a:rPr lang="en-US" sz="2400">
                <a:solidFill>
                  <a:srgbClr val="344E41"/>
                </a:solidFill>
                <a:latin typeface="Raleway 1"/>
                <a:ea typeface="Raleway 1"/>
                <a:cs typeface="Raleway 1"/>
                <a:sym typeface="Raleway 1"/>
              </a:rPr>
              <a:t>Supply</a:t>
            </a:r>
            <a:r>
              <a:rPr lang="en-US" sz="2400" u="none" strike="noStrike">
                <a:solidFill>
                  <a:srgbClr val="344E41"/>
                </a:solidFill>
                <a:latin typeface="Raleway 1"/>
                <a:ea typeface="Raleway 1"/>
                <a:cs typeface="Raleway 1"/>
                <a:sym typeface="Raleway 1"/>
              </a:rPr>
              <a:t> Chain Optimisation focuses on improving the efficiency of product flow from suppliers to customers. In this project, we analyse sales and inventory data to improve demand forecasting and optimise stock levels. The goal is to reduce costs and ensure smooth operations. By using data-driven insights, we help the business make smarter supply chain decisions.</a:t>
            </a:r>
          </a:p>
        </p:txBody>
      </p:sp>
      <p:sp>
        <p:nvSpPr>
          <p:cNvPr id="7" name="TextBox 7"/>
          <p:cNvSpPr txBox="1"/>
          <p:nvPr/>
        </p:nvSpPr>
        <p:spPr>
          <a:xfrm>
            <a:off x="1225044" y="4907280"/>
            <a:ext cx="4514460" cy="431800"/>
          </a:xfrm>
          <a:prstGeom prst="rect">
            <a:avLst/>
          </a:prstGeom>
        </p:spPr>
        <p:txBody>
          <a:bodyPr lIns="0" tIns="0" rIns="0" bIns="0" rtlCol="0" anchor="t">
            <a:spAutoFit/>
          </a:bodyPr>
          <a:lstStyle/>
          <a:p>
            <a:pPr algn="l">
              <a:lnSpc>
                <a:spcPts val="3499"/>
              </a:lnSpc>
            </a:pPr>
            <a:r>
              <a:rPr lang="en-US" sz="2499" b="1">
                <a:solidFill>
                  <a:srgbClr val="344E41"/>
                </a:solidFill>
                <a:latin typeface="Raleway 1 Bold"/>
                <a:ea typeface="Raleway 1 Bold"/>
                <a:cs typeface="Raleway 1 Bold"/>
                <a:sym typeface="Raleway 1 Bold"/>
              </a:rPr>
              <a:t>Business Challenge</a:t>
            </a:r>
          </a:p>
        </p:txBody>
      </p:sp>
      <p:sp>
        <p:nvSpPr>
          <p:cNvPr id="8" name="TextBox 8"/>
          <p:cNvSpPr txBox="1"/>
          <p:nvPr/>
        </p:nvSpPr>
        <p:spPr>
          <a:xfrm>
            <a:off x="1225044" y="5580697"/>
            <a:ext cx="4514460" cy="2988945"/>
          </a:xfrm>
          <a:prstGeom prst="rect">
            <a:avLst/>
          </a:prstGeom>
        </p:spPr>
        <p:txBody>
          <a:bodyPr lIns="0" tIns="0" rIns="0" bIns="0" rtlCol="0" anchor="t">
            <a:spAutoFit/>
          </a:bodyPr>
          <a:lstStyle/>
          <a:p>
            <a:pPr marL="496567" lvl="1" indent="-248284" algn="l">
              <a:lnSpc>
                <a:spcPts val="3449"/>
              </a:lnSpc>
              <a:buFont typeface="Arial"/>
              <a:buChar char="•"/>
            </a:pPr>
            <a:r>
              <a:rPr lang="en-US" sz="2299">
                <a:solidFill>
                  <a:srgbClr val="000000"/>
                </a:solidFill>
                <a:latin typeface="Raleway 1"/>
                <a:ea typeface="Raleway 1"/>
                <a:cs typeface="Raleway 1"/>
                <a:sym typeface="Raleway 1"/>
              </a:rPr>
              <a:t>Inefficient demand forecasting</a:t>
            </a:r>
          </a:p>
          <a:p>
            <a:pPr marL="496567" lvl="1" indent="-248284" algn="l">
              <a:lnSpc>
                <a:spcPts val="3449"/>
              </a:lnSpc>
              <a:buFont typeface="Arial"/>
              <a:buChar char="•"/>
            </a:pPr>
            <a:r>
              <a:rPr lang="en-US" sz="2299">
                <a:solidFill>
                  <a:srgbClr val="000000"/>
                </a:solidFill>
                <a:latin typeface="Raleway 1"/>
                <a:ea typeface="Raleway 1"/>
                <a:cs typeface="Raleway 1"/>
                <a:sym typeface="Raleway 1"/>
              </a:rPr>
              <a:t>Poor inventory planning across locations</a:t>
            </a:r>
          </a:p>
          <a:p>
            <a:pPr marL="496567" lvl="1" indent="-248284" algn="l">
              <a:lnSpc>
                <a:spcPts val="3449"/>
              </a:lnSpc>
              <a:buFont typeface="Arial"/>
              <a:buChar char="•"/>
            </a:pPr>
            <a:r>
              <a:rPr lang="en-US" sz="2299">
                <a:solidFill>
                  <a:srgbClr val="000000"/>
                </a:solidFill>
                <a:latin typeface="Raleway 1"/>
                <a:ea typeface="Raleway 1"/>
                <a:cs typeface="Raleway 1"/>
                <a:sym typeface="Raleway 1"/>
              </a:rPr>
              <a:t>Lack of data-driven decision-making</a:t>
            </a:r>
          </a:p>
          <a:p>
            <a:pPr algn="l">
              <a:lnSpc>
                <a:spcPts val="3449"/>
              </a:lnSpc>
            </a:pPr>
            <a:endParaRPr lang="en-US" sz="2299">
              <a:solidFill>
                <a:srgbClr val="000000"/>
              </a:solidFill>
              <a:latin typeface="Raleway 1"/>
              <a:ea typeface="Raleway 1"/>
              <a:cs typeface="Raleway 1"/>
              <a:sym typeface="Raleway 1"/>
            </a:endParaRPr>
          </a:p>
        </p:txBody>
      </p:sp>
      <p:sp>
        <p:nvSpPr>
          <p:cNvPr id="9" name="TextBox 9"/>
          <p:cNvSpPr txBox="1"/>
          <p:nvPr/>
        </p:nvSpPr>
        <p:spPr>
          <a:xfrm>
            <a:off x="6869448" y="4907280"/>
            <a:ext cx="3701037" cy="431800"/>
          </a:xfrm>
          <a:prstGeom prst="rect">
            <a:avLst/>
          </a:prstGeom>
        </p:spPr>
        <p:txBody>
          <a:bodyPr lIns="0" tIns="0" rIns="0" bIns="0" rtlCol="0" anchor="t">
            <a:spAutoFit/>
          </a:bodyPr>
          <a:lstStyle/>
          <a:p>
            <a:pPr algn="l">
              <a:lnSpc>
                <a:spcPts val="3499"/>
              </a:lnSpc>
            </a:pPr>
            <a:r>
              <a:rPr lang="en-US" sz="2499" b="1">
                <a:solidFill>
                  <a:srgbClr val="344E41"/>
                </a:solidFill>
                <a:latin typeface="Raleway 1 Bold"/>
                <a:ea typeface="Raleway 1 Bold"/>
                <a:cs typeface="Raleway 1 Bold"/>
                <a:sym typeface="Raleway 1 Bold"/>
              </a:rPr>
              <a:t>Project Objective</a:t>
            </a:r>
          </a:p>
        </p:txBody>
      </p:sp>
      <p:sp>
        <p:nvSpPr>
          <p:cNvPr id="10" name="TextBox 10"/>
          <p:cNvSpPr txBox="1"/>
          <p:nvPr/>
        </p:nvSpPr>
        <p:spPr>
          <a:xfrm>
            <a:off x="6869448" y="5580697"/>
            <a:ext cx="4205920" cy="2988945"/>
          </a:xfrm>
          <a:prstGeom prst="rect">
            <a:avLst/>
          </a:prstGeom>
        </p:spPr>
        <p:txBody>
          <a:bodyPr lIns="0" tIns="0" rIns="0" bIns="0" rtlCol="0" anchor="t">
            <a:spAutoFit/>
          </a:bodyPr>
          <a:lstStyle/>
          <a:p>
            <a:pPr marL="496567" lvl="1" indent="-248284" algn="l">
              <a:lnSpc>
                <a:spcPts val="3449"/>
              </a:lnSpc>
              <a:buFont typeface="Arial"/>
              <a:buChar char="•"/>
            </a:pPr>
            <a:r>
              <a:rPr lang="en-US" sz="2299">
                <a:solidFill>
                  <a:srgbClr val="000000"/>
                </a:solidFill>
                <a:latin typeface="Raleway 1"/>
                <a:ea typeface="Raleway 1"/>
                <a:cs typeface="Raleway 1"/>
                <a:sym typeface="Raleway 1"/>
              </a:rPr>
              <a:t>Optimise supply chain operations</a:t>
            </a:r>
          </a:p>
          <a:p>
            <a:pPr marL="496567" lvl="1" indent="-248284" algn="l">
              <a:lnSpc>
                <a:spcPts val="3449"/>
              </a:lnSpc>
              <a:buFont typeface="Arial"/>
              <a:buChar char="•"/>
            </a:pPr>
            <a:r>
              <a:rPr lang="en-US" sz="2299">
                <a:solidFill>
                  <a:srgbClr val="000000"/>
                </a:solidFill>
                <a:latin typeface="Raleway 1"/>
                <a:ea typeface="Raleway 1"/>
                <a:cs typeface="Raleway 1"/>
                <a:sym typeface="Raleway 1"/>
              </a:rPr>
              <a:t>Improve demand prediction accuracy</a:t>
            </a:r>
          </a:p>
          <a:p>
            <a:pPr marL="496567" lvl="1" indent="-248284" algn="l">
              <a:lnSpc>
                <a:spcPts val="3449"/>
              </a:lnSpc>
              <a:buFont typeface="Arial"/>
              <a:buChar char="•"/>
            </a:pPr>
            <a:r>
              <a:rPr lang="en-US" sz="2299">
                <a:solidFill>
                  <a:srgbClr val="000000"/>
                </a:solidFill>
                <a:latin typeface="Raleway 1"/>
                <a:ea typeface="Raleway 1"/>
                <a:cs typeface="Raleway 1"/>
                <a:sym typeface="Raleway 1"/>
              </a:rPr>
              <a:t>Ensure timely product availability</a:t>
            </a:r>
          </a:p>
          <a:p>
            <a:pPr algn="l">
              <a:lnSpc>
                <a:spcPts val="3449"/>
              </a:lnSpc>
            </a:pPr>
            <a:endParaRPr lang="en-US" sz="2299">
              <a:solidFill>
                <a:srgbClr val="000000"/>
              </a:solidFill>
              <a:latin typeface="Raleway 1"/>
              <a:ea typeface="Raleway 1"/>
              <a:cs typeface="Raleway 1"/>
              <a:sym typeface="Raleway 1"/>
            </a:endParaRPr>
          </a:p>
        </p:txBody>
      </p:sp>
      <p:sp>
        <p:nvSpPr>
          <p:cNvPr id="11" name="TextBox 11"/>
          <p:cNvSpPr txBox="1"/>
          <p:nvPr/>
        </p:nvSpPr>
        <p:spPr>
          <a:xfrm>
            <a:off x="12718401" y="4697730"/>
            <a:ext cx="3701037" cy="869950"/>
          </a:xfrm>
          <a:prstGeom prst="rect">
            <a:avLst/>
          </a:prstGeom>
        </p:spPr>
        <p:txBody>
          <a:bodyPr lIns="0" tIns="0" rIns="0" bIns="0" rtlCol="0" anchor="t">
            <a:spAutoFit/>
          </a:bodyPr>
          <a:lstStyle/>
          <a:p>
            <a:pPr algn="l">
              <a:lnSpc>
                <a:spcPts val="3499"/>
              </a:lnSpc>
            </a:pPr>
            <a:r>
              <a:rPr lang="en-US" sz="2499" b="1">
                <a:solidFill>
                  <a:srgbClr val="344E41"/>
                </a:solidFill>
                <a:latin typeface="Raleway 1 Bold"/>
                <a:ea typeface="Raleway 1 Bold"/>
                <a:cs typeface="Raleway 1 Bold"/>
                <a:sym typeface="Raleway 1 Bold"/>
              </a:rPr>
              <a:t>Expected Business Impact</a:t>
            </a:r>
          </a:p>
        </p:txBody>
      </p:sp>
      <p:sp>
        <p:nvSpPr>
          <p:cNvPr id="12" name="TextBox 12"/>
          <p:cNvSpPr txBox="1"/>
          <p:nvPr/>
        </p:nvSpPr>
        <p:spPr>
          <a:xfrm>
            <a:off x="12560831" y="5685472"/>
            <a:ext cx="3701037" cy="3417570"/>
          </a:xfrm>
          <a:prstGeom prst="rect">
            <a:avLst/>
          </a:prstGeom>
        </p:spPr>
        <p:txBody>
          <a:bodyPr lIns="0" tIns="0" rIns="0" bIns="0" rtlCol="0" anchor="t">
            <a:spAutoFit/>
          </a:bodyPr>
          <a:lstStyle/>
          <a:p>
            <a:pPr marL="496567" lvl="1" indent="-248284" algn="l">
              <a:lnSpc>
                <a:spcPts val="3449"/>
              </a:lnSpc>
              <a:buFont typeface="Arial"/>
              <a:buChar char="•"/>
            </a:pPr>
            <a:r>
              <a:rPr lang="en-US" sz="2299">
                <a:solidFill>
                  <a:srgbClr val="000000"/>
                </a:solidFill>
                <a:latin typeface="Raleway 1"/>
                <a:ea typeface="Raleway 1"/>
                <a:cs typeface="Raleway 1"/>
                <a:sym typeface="Raleway 1"/>
              </a:rPr>
              <a:t>Lower operational costs</a:t>
            </a:r>
          </a:p>
          <a:p>
            <a:pPr marL="496567" lvl="1" indent="-248284" algn="l">
              <a:lnSpc>
                <a:spcPts val="3449"/>
              </a:lnSpc>
              <a:buFont typeface="Arial"/>
              <a:buChar char="•"/>
            </a:pPr>
            <a:r>
              <a:rPr lang="en-US" sz="2299">
                <a:solidFill>
                  <a:srgbClr val="000000"/>
                </a:solidFill>
                <a:latin typeface="Raleway 1"/>
                <a:ea typeface="Raleway 1"/>
                <a:cs typeface="Raleway 1"/>
                <a:sym typeface="Raleway 1"/>
              </a:rPr>
              <a:t>Faster replenishment cycles</a:t>
            </a:r>
          </a:p>
          <a:p>
            <a:pPr marL="496567" lvl="1" indent="-248284" algn="l">
              <a:lnSpc>
                <a:spcPts val="3449"/>
              </a:lnSpc>
              <a:buFont typeface="Arial"/>
              <a:buChar char="•"/>
            </a:pPr>
            <a:r>
              <a:rPr lang="en-US" sz="2299">
                <a:solidFill>
                  <a:srgbClr val="000000"/>
                </a:solidFill>
                <a:latin typeface="Raleway 1"/>
                <a:ea typeface="Raleway 1"/>
                <a:cs typeface="Raleway 1"/>
                <a:sym typeface="Raleway 1"/>
              </a:rPr>
              <a:t>Improved profitability</a:t>
            </a:r>
          </a:p>
          <a:p>
            <a:pPr marL="496567" lvl="1" indent="-248284" algn="l">
              <a:lnSpc>
                <a:spcPts val="3449"/>
              </a:lnSpc>
              <a:buFont typeface="Arial"/>
              <a:buChar char="•"/>
            </a:pPr>
            <a:r>
              <a:rPr lang="en-US" sz="2299">
                <a:solidFill>
                  <a:srgbClr val="000000"/>
                </a:solidFill>
                <a:latin typeface="Raleway 1"/>
                <a:ea typeface="Raleway 1"/>
                <a:cs typeface="Raleway 1"/>
                <a:sym typeface="Raleway 1"/>
              </a:rPr>
              <a:t>Better customer satisfaction</a:t>
            </a:r>
          </a:p>
          <a:p>
            <a:pPr algn="l">
              <a:lnSpc>
                <a:spcPts val="3449"/>
              </a:lnSpc>
            </a:pPr>
            <a:endParaRPr lang="en-US" sz="2299">
              <a:solidFill>
                <a:srgbClr val="000000"/>
              </a:solidFill>
              <a:latin typeface="Raleway 1"/>
              <a:ea typeface="Raleway 1"/>
              <a:cs typeface="Raleway 1"/>
              <a:sym typeface="Raleway 1"/>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TextBox 4"/>
          <p:cNvSpPr txBox="1"/>
          <p:nvPr/>
        </p:nvSpPr>
        <p:spPr>
          <a:xfrm>
            <a:off x="1266721" y="506839"/>
            <a:ext cx="8580626" cy="952052"/>
          </a:xfrm>
          <a:prstGeom prst="rect">
            <a:avLst/>
          </a:prstGeom>
        </p:spPr>
        <p:txBody>
          <a:bodyPr lIns="0" tIns="0" rIns="0" bIns="0" rtlCol="0" anchor="t">
            <a:spAutoFit/>
          </a:bodyPr>
          <a:lstStyle/>
          <a:p>
            <a:pPr algn="l">
              <a:lnSpc>
                <a:spcPts val="7899"/>
              </a:lnSpc>
            </a:pPr>
            <a:r>
              <a:rPr lang="en-US" sz="5642">
                <a:solidFill>
                  <a:srgbClr val="344E41"/>
                </a:solidFill>
                <a:latin typeface="Prata"/>
                <a:ea typeface="Prata"/>
                <a:cs typeface="Prata"/>
                <a:sym typeface="Prata"/>
              </a:rPr>
              <a:t>TECHNOLOGY USED</a:t>
            </a:r>
          </a:p>
        </p:txBody>
      </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4</a:t>
            </a:r>
          </a:p>
        </p:txBody>
      </p:sp>
      <p:grpSp>
        <p:nvGrpSpPr>
          <p:cNvPr id="6" name="Group 6"/>
          <p:cNvGrpSpPr/>
          <p:nvPr/>
        </p:nvGrpSpPr>
        <p:grpSpPr>
          <a:xfrm>
            <a:off x="1815769" y="2371164"/>
            <a:ext cx="6446857" cy="6425161"/>
            <a:chOff x="0" y="0"/>
            <a:chExt cx="8595809" cy="8566882"/>
          </a:xfrm>
        </p:grpSpPr>
        <p:sp>
          <p:nvSpPr>
            <p:cNvPr id="7" name="Freeform 7"/>
            <p:cNvSpPr/>
            <p:nvPr/>
          </p:nvSpPr>
          <p:spPr>
            <a:xfrm>
              <a:off x="0" y="0"/>
              <a:ext cx="8595809" cy="8566882"/>
            </a:xfrm>
            <a:custGeom>
              <a:avLst/>
              <a:gdLst/>
              <a:ahLst/>
              <a:cxnLst/>
              <a:rect l="l" t="t" r="r" b="b"/>
              <a:pathLst>
                <a:path w="8595809" h="8566882">
                  <a:moveTo>
                    <a:pt x="0" y="0"/>
                  </a:moveTo>
                  <a:lnTo>
                    <a:pt x="8595809" y="0"/>
                  </a:lnTo>
                  <a:lnTo>
                    <a:pt x="8595809" y="8566882"/>
                  </a:lnTo>
                  <a:lnTo>
                    <a:pt x="0" y="8566882"/>
                  </a:lnTo>
                  <a:lnTo>
                    <a:pt x="0" y="0"/>
                  </a:lnTo>
                  <a:close/>
                </a:path>
              </a:pathLst>
            </a:custGeom>
            <a:blipFill>
              <a:blip r:embed="rId2"/>
              <a:stretch>
                <a:fillRect t="-168" b="-168"/>
              </a:stretch>
            </a:blipFill>
          </p:spPr>
        </p:sp>
        <p:sp>
          <p:nvSpPr>
            <p:cNvPr id="8" name="TextBox 8"/>
            <p:cNvSpPr txBox="1"/>
            <p:nvPr/>
          </p:nvSpPr>
          <p:spPr>
            <a:xfrm>
              <a:off x="2989580" y="3466615"/>
              <a:ext cx="2610012" cy="835876"/>
            </a:xfrm>
            <a:prstGeom prst="rect">
              <a:avLst/>
            </a:prstGeom>
          </p:spPr>
          <p:txBody>
            <a:bodyPr lIns="0" tIns="0" rIns="0" bIns="0" rtlCol="0" anchor="t">
              <a:spAutoFit/>
            </a:bodyPr>
            <a:lstStyle/>
            <a:p>
              <a:pPr algn="ctr">
                <a:lnSpc>
                  <a:spcPts val="5214"/>
                </a:lnSpc>
              </a:pPr>
              <a:r>
                <a:rPr lang="en-US" sz="3724">
                  <a:solidFill>
                    <a:srgbClr val="344E41"/>
                  </a:solidFill>
                  <a:latin typeface="Raleway 2"/>
                  <a:ea typeface="Raleway 2"/>
                  <a:cs typeface="Raleway 2"/>
                  <a:sym typeface="Raleway 2"/>
                </a:rPr>
                <a:t>PANDAS</a:t>
              </a:r>
            </a:p>
          </p:txBody>
        </p:sp>
        <p:sp>
          <p:nvSpPr>
            <p:cNvPr id="9" name="TextBox 9"/>
            <p:cNvSpPr txBox="1"/>
            <p:nvPr/>
          </p:nvSpPr>
          <p:spPr>
            <a:xfrm>
              <a:off x="3127917" y="2126427"/>
              <a:ext cx="2333338" cy="824743"/>
            </a:xfrm>
            <a:prstGeom prst="rect">
              <a:avLst/>
            </a:prstGeom>
          </p:spPr>
          <p:txBody>
            <a:bodyPr lIns="0" tIns="0" rIns="0" bIns="0" rtlCol="0" anchor="t">
              <a:spAutoFit/>
            </a:bodyPr>
            <a:lstStyle/>
            <a:p>
              <a:pPr algn="ctr">
                <a:lnSpc>
                  <a:spcPts val="5150"/>
                </a:lnSpc>
              </a:pPr>
              <a:r>
                <a:rPr lang="en-US" sz="3678">
                  <a:solidFill>
                    <a:srgbClr val="344E41"/>
                  </a:solidFill>
                  <a:latin typeface="Raleway 2"/>
                  <a:ea typeface="Raleway 2"/>
                  <a:cs typeface="Raleway 2"/>
                  <a:sym typeface="Raleway 2"/>
                </a:rPr>
                <a:t>NUMPY</a:t>
              </a:r>
            </a:p>
          </p:txBody>
        </p:sp>
        <p:sp>
          <p:nvSpPr>
            <p:cNvPr id="10" name="TextBox 10"/>
            <p:cNvSpPr txBox="1"/>
            <p:nvPr/>
          </p:nvSpPr>
          <p:spPr>
            <a:xfrm>
              <a:off x="2124122" y="4942179"/>
              <a:ext cx="4474245" cy="825118"/>
            </a:xfrm>
            <a:prstGeom prst="rect">
              <a:avLst/>
            </a:prstGeom>
          </p:spPr>
          <p:txBody>
            <a:bodyPr lIns="0" tIns="0" rIns="0" bIns="0" rtlCol="0" anchor="t">
              <a:spAutoFit/>
            </a:bodyPr>
            <a:lstStyle/>
            <a:p>
              <a:pPr algn="ctr">
                <a:lnSpc>
                  <a:spcPts val="5134"/>
                </a:lnSpc>
              </a:pPr>
              <a:r>
                <a:rPr lang="en-US" sz="3667">
                  <a:solidFill>
                    <a:srgbClr val="344E41"/>
                  </a:solidFill>
                  <a:latin typeface="Raleway 2"/>
                  <a:ea typeface="Raleway 2"/>
                  <a:cs typeface="Raleway 2"/>
                  <a:sym typeface="Raleway 2"/>
                </a:rPr>
                <a:t>SCIKIT LEARN</a:t>
              </a:r>
            </a:p>
          </p:txBody>
        </p:sp>
        <p:sp>
          <p:nvSpPr>
            <p:cNvPr id="11" name="TextBox 11"/>
            <p:cNvSpPr txBox="1"/>
            <p:nvPr/>
          </p:nvSpPr>
          <p:spPr>
            <a:xfrm>
              <a:off x="2082085" y="513915"/>
              <a:ext cx="4425002" cy="825625"/>
            </a:xfrm>
            <a:prstGeom prst="rect">
              <a:avLst/>
            </a:prstGeom>
          </p:spPr>
          <p:txBody>
            <a:bodyPr lIns="0" tIns="0" rIns="0" bIns="0" rtlCol="0" anchor="t">
              <a:spAutoFit/>
            </a:bodyPr>
            <a:lstStyle/>
            <a:p>
              <a:pPr algn="ctr">
                <a:lnSpc>
                  <a:spcPts val="5113"/>
                </a:lnSpc>
              </a:pPr>
              <a:r>
                <a:rPr lang="en-US" sz="3652">
                  <a:solidFill>
                    <a:srgbClr val="344E41"/>
                  </a:solidFill>
                  <a:latin typeface="Raleway 2"/>
                  <a:ea typeface="Raleway 2"/>
                  <a:cs typeface="Raleway 2"/>
                  <a:sym typeface="Raleway 2"/>
                </a:rPr>
                <a:t>MATPLOTLIB</a:t>
              </a:r>
            </a:p>
          </p:txBody>
        </p:sp>
        <p:sp>
          <p:nvSpPr>
            <p:cNvPr id="12" name="TextBox 12"/>
            <p:cNvSpPr txBox="1"/>
            <p:nvPr/>
          </p:nvSpPr>
          <p:spPr>
            <a:xfrm>
              <a:off x="2850912" y="6406985"/>
              <a:ext cx="3020666" cy="824732"/>
            </a:xfrm>
            <a:prstGeom prst="rect">
              <a:avLst/>
            </a:prstGeom>
          </p:spPr>
          <p:txBody>
            <a:bodyPr lIns="0" tIns="0" rIns="0" bIns="0" rtlCol="0" anchor="t">
              <a:spAutoFit/>
            </a:bodyPr>
            <a:lstStyle/>
            <a:p>
              <a:pPr algn="ctr">
                <a:lnSpc>
                  <a:spcPts val="5150"/>
                </a:lnSpc>
              </a:pPr>
              <a:r>
                <a:rPr lang="en-US" sz="3678">
                  <a:solidFill>
                    <a:srgbClr val="344E41"/>
                  </a:solidFill>
                  <a:latin typeface="Raleway 2"/>
                  <a:ea typeface="Raleway 2"/>
                  <a:cs typeface="Raleway 2"/>
                  <a:sym typeface="Raleway 2"/>
                </a:rPr>
                <a:t>SEABORN</a:t>
              </a:r>
            </a:p>
          </p:txBody>
        </p:sp>
      </p:grpSp>
      <p:sp>
        <p:nvSpPr>
          <p:cNvPr id="13" name="Freeform 13"/>
          <p:cNvSpPr/>
          <p:nvPr/>
        </p:nvSpPr>
        <p:spPr>
          <a:xfrm>
            <a:off x="8262626" y="3482440"/>
            <a:ext cx="8675450" cy="3322119"/>
          </a:xfrm>
          <a:custGeom>
            <a:avLst/>
            <a:gdLst/>
            <a:ahLst/>
            <a:cxnLst/>
            <a:rect l="l" t="t" r="r" b="b"/>
            <a:pathLst>
              <a:path w="8675450" h="3322119">
                <a:moveTo>
                  <a:pt x="0" y="0"/>
                </a:moveTo>
                <a:lnTo>
                  <a:pt x="8675450" y="0"/>
                </a:lnTo>
                <a:lnTo>
                  <a:pt x="8675450" y="3322120"/>
                </a:lnTo>
                <a:lnTo>
                  <a:pt x="0" y="3322120"/>
                </a:lnTo>
                <a:lnTo>
                  <a:pt x="0" y="0"/>
                </a:lnTo>
                <a:close/>
              </a:path>
            </a:pathLst>
          </a:custGeom>
          <a:blipFill>
            <a:blip r:embed="rId2"/>
            <a:stretch>
              <a:fillRect b="-161142"/>
            </a:stretch>
          </a:blipFill>
        </p:spPr>
      </p:sp>
      <p:sp>
        <p:nvSpPr>
          <p:cNvPr id="14" name="TextBox 14"/>
          <p:cNvSpPr txBox="1"/>
          <p:nvPr/>
        </p:nvSpPr>
        <p:spPr>
          <a:xfrm>
            <a:off x="10471241" y="4031954"/>
            <a:ext cx="2773680" cy="913130"/>
          </a:xfrm>
          <a:prstGeom prst="rect">
            <a:avLst/>
          </a:prstGeom>
        </p:spPr>
        <p:txBody>
          <a:bodyPr lIns="0" tIns="0" rIns="0" bIns="0" rtlCol="0" anchor="t">
            <a:spAutoFit/>
          </a:bodyPr>
          <a:lstStyle/>
          <a:p>
            <a:pPr algn="ctr">
              <a:lnSpc>
                <a:spcPts val="7419"/>
              </a:lnSpc>
            </a:pPr>
            <a:r>
              <a:rPr lang="en-US" sz="5299">
                <a:solidFill>
                  <a:srgbClr val="344E41"/>
                </a:solidFill>
                <a:latin typeface="Raleway 1"/>
                <a:ea typeface="Raleway 1"/>
                <a:cs typeface="Raleway 1"/>
                <a:sym typeface="Raleway 1"/>
              </a:rPr>
              <a:t>PYTHON</a:t>
            </a:r>
          </a:p>
        </p:txBody>
      </p:sp>
      <p:sp>
        <p:nvSpPr>
          <p:cNvPr id="15" name="TextBox 15"/>
          <p:cNvSpPr txBox="1"/>
          <p:nvPr/>
        </p:nvSpPr>
        <p:spPr>
          <a:xfrm>
            <a:off x="11603466" y="5480292"/>
            <a:ext cx="3628910" cy="913130"/>
          </a:xfrm>
          <a:prstGeom prst="rect">
            <a:avLst/>
          </a:prstGeom>
        </p:spPr>
        <p:txBody>
          <a:bodyPr lIns="0" tIns="0" rIns="0" bIns="0" rtlCol="0" anchor="t">
            <a:spAutoFit/>
          </a:bodyPr>
          <a:lstStyle/>
          <a:p>
            <a:pPr algn="ctr">
              <a:lnSpc>
                <a:spcPts val="7419"/>
              </a:lnSpc>
            </a:pPr>
            <a:r>
              <a:rPr lang="en-US" sz="5299">
                <a:solidFill>
                  <a:srgbClr val="344E41"/>
                </a:solidFill>
                <a:latin typeface="Raleway 1"/>
                <a:ea typeface="Raleway 1"/>
                <a:cs typeface="Raleway 1"/>
                <a:sym typeface="Raleway 1"/>
              </a:rPr>
              <a:t>JENKINS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1732002" y="1448792"/>
            <a:ext cx="4132517" cy="1593971"/>
          </a:xfrm>
          <a:custGeom>
            <a:avLst/>
            <a:gdLst/>
            <a:ahLst/>
            <a:cxnLst/>
            <a:rect l="l" t="t" r="r" b="b"/>
            <a:pathLst>
              <a:path w="4132517" h="1593971">
                <a:moveTo>
                  <a:pt x="0" y="0"/>
                </a:moveTo>
                <a:lnTo>
                  <a:pt x="4132517" y="0"/>
                </a:lnTo>
                <a:lnTo>
                  <a:pt x="4132517" y="1593971"/>
                </a:lnTo>
                <a:lnTo>
                  <a:pt x="0" y="1593971"/>
                </a:lnTo>
                <a:lnTo>
                  <a:pt x="0" y="0"/>
                </a:lnTo>
                <a:close/>
              </a:path>
            </a:pathLst>
          </a:custGeom>
          <a:blipFill>
            <a:blip r:embed="rId2"/>
            <a:stretch>
              <a:fillRect/>
            </a:stretch>
          </a:blipFill>
        </p:spPr>
      </p:sp>
      <p:sp>
        <p:nvSpPr>
          <p:cNvPr id="5" name="Freeform 5"/>
          <p:cNvSpPr/>
          <p:nvPr/>
        </p:nvSpPr>
        <p:spPr>
          <a:xfrm>
            <a:off x="2567779" y="3042763"/>
            <a:ext cx="4523755" cy="1744877"/>
          </a:xfrm>
          <a:custGeom>
            <a:avLst/>
            <a:gdLst/>
            <a:ahLst/>
            <a:cxnLst/>
            <a:rect l="l" t="t" r="r" b="b"/>
            <a:pathLst>
              <a:path w="4523755" h="1744877">
                <a:moveTo>
                  <a:pt x="0" y="0"/>
                </a:moveTo>
                <a:lnTo>
                  <a:pt x="4523755" y="0"/>
                </a:lnTo>
                <a:lnTo>
                  <a:pt x="4523755" y="1744876"/>
                </a:lnTo>
                <a:lnTo>
                  <a:pt x="0" y="1744876"/>
                </a:lnTo>
                <a:lnTo>
                  <a:pt x="0" y="0"/>
                </a:lnTo>
                <a:close/>
              </a:path>
            </a:pathLst>
          </a:custGeom>
          <a:blipFill>
            <a:blip r:embed="rId2"/>
            <a:stretch>
              <a:fillRect/>
            </a:stretch>
          </a:blipFill>
        </p:spPr>
      </p:sp>
      <p:sp>
        <p:nvSpPr>
          <p:cNvPr id="6" name="Freeform 6"/>
          <p:cNvSpPr/>
          <p:nvPr/>
        </p:nvSpPr>
        <p:spPr>
          <a:xfrm>
            <a:off x="4006630" y="4787639"/>
            <a:ext cx="4499651" cy="1689854"/>
          </a:xfrm>
          <a:custGeom>
            <a:avLst/>
            <a:gdLst/>
            <a:ahLst/>
            <a:cxnLst/>
            <a:rect l="l" t="t" r="r" b="b"/>
            <a:pathLst>
              <a:path w="4499651" h="1689854">
                <a:moveTo>
                  <a:pt x="0" y="0"/>
                </a:moveTo>
                <a:lnTo>
                  <a:pt x="4499651" y="0"/>
                </a:lnTo>
                <a:lnTo>
                  <a:pt x="4499651" y="1689855"/>
                </a:lnTo>
                <a:lnTo>
                  <a:pt x="0" y="1689855"/>
                </a:lnTo>
                <a:lnTo>
                  <a:pt x="0" y="0"/>
                </a:lnTo>
                <a:close/>
              </a:path>
            </a:pathLst>
          </a:custGeom>
          <a:blipFill>
            <a:blip r:embed="rId2"/>
            <a:stretch>
              <a:fillRect b="-2705"/>
            </a:stretch>
          </a:blipFill>
        </p:spPr>
      </p:sp>
      <p:sp>
        <p:nvSpPr>
          <p:cNvPr id="7" name="Freeform 7"/>
          <p:cNvSpPr/>
          <p:nvPr/>
        </p:nvSpPr>
        <p:spPr>
          <a:xfrm>
            <a:off x="5025451" y="6444331"/>
            <a:ext cx="4322667" cy="1644806"/>
          </a:xfrm>
          <a:custGeom>
            <a:avLst/>
            <a:gdLst/>
            <a:ahLst/>
            <a:cxnLst/>
            <a:rect l="l" t="t" r="r" b="b"/>
            <a:pathLst>
              <a:path w="4322667" h="1644806">
                <a:moveTo>
                  <a:pt x="0" y="0"/>
                </a:moveTo>
                <a:lnTo>
                  <a:pt x="4322667" y="0"/>
                </a:lnTo>
                <a:lnTo>
                  <a:pt x="4322667" y="1644806"/>
                </a:lnTo>
                <a:lnTo>
                  <a:pt x="0" y="1644806"/>
                </a:lnTo>
                <a:lnTo>
                  <a:pt x="0" y="0"/>
                </a:lnTo>
                <a:close/>
              </a:path>
            </a:pathLst>
          </a:custGeom>
          <a:blipFill>
            <a:blip r:embed="rId2"/>
            <a:stretch>
              <a:fillRect b="-1368"/>
            </a:stretch>
          </a:blipFill>
        </p:spPr>
      </p:sp>
      <p:sp>
        <p:nvSpPr>
          <p:cNvPr id="8" name="Freeform 8"/>
          <p:cNvSpPr/>
          <p:nvPr/>
        </p:nvSpPr>
        <p:spPr>
          <a:xfrm rot="-10800000">
            <a:off x="10768524" y="4010923"/>
            <a:ext cx="4499651" cy="1689854"/>
          </a:xfrm>
          <a:custGeom>
            <a:avLst/>
            <a:gdLst/>
            <a:ahLst/>
            <a:cxnLst/>
            <a:rect l="l" t="t" r="r" b="b"/>
            <a:pathLst>
              <a:path w="4499651" h="1689854">
                <a:moveTo>
                  <a:pt x="0" y="0"/>
                </a:moveTo>
                <a:lnTo>
                  <a:pt x="4499650" y="0"/>
                </a:lnTo>
                <a:lnTo>
                  <a:pt x="4499650" y="1689854"/>
                </a:lnTo>
                <a:lnTo>
                  <a:pt x="0" y="1689854"/>
                </a:lnTo>
                <a:lnTo>
                  <a:pt x="0" y="0"/>
                </a:lnTo>
                <a:close/>
              </a:path>
            </a:pathLst>
          </a:custGeom>
          <a:blipFill>
            <a:blip r:embed="rId2"/>
            <a:stretch>
              <a:fillRect b="-2705"/>
            </a:stretch>
          </a:blipFill>
        </p:spPr>
      </p:sp>
      <p:sp>
        <p:nvSpPr>
          <p:cNvPr id="9" name="Freeform 9"/>
          <p:cNvSpPr/>
          <p:nvPr/>
        </p:nvSpPr>
        <p:spPr>
          <a:xfrm rot="-10800000">
            <a:off x="11585761" y="2321069"/>
            <a:ext cx="4499651" cy="1689854"/>
          </a:xfrm>
          <a:custGeom>
            <a:avLst/>
            <a:gdLst/>
            <a:ahLst/>
            <a:cxnLst/>
            <a:rect l="l" t="t" r="r" b="b"/>
            <a:pathLst>
              <a:path w="4499651" h="1689854">
                <a:moveTo>
                  <a:pt x="0" y="0"/>
                </a:moveTo>
                <a:lnTo>
                  <a:pt x="4499651" y="0"/>
                </a:lnTo>
                <a:lnTo>
                  <a:pt x="4499651" y="1689854"/>
                </a:lnTo>
                <a:lnTo>
                  <a:pt x="0" y="1689854"/>
                </a:lnTo>
                <a:lnTo>
                  <a:pt x="0" y="0"/>
                </a:lnTo>
                <a:close/>
              </a:path>
            </a:pathLst>
          </a:custGeom>
          <a:blipFill>
            <a:blip r:embed="rId2"/>
            <a:stretch>
              <a:fillRect b="-2705"/>
            </a:stretch>
          </a:blipFill>
        </p:spPr>
      </p:sp>
      <p:sp>
        <p:nvSpPr>
          <p:cNvPr id="10" name="Freeform 10"/>
          <p:cNvSpPr/>
          <p:nvPr/>
        </p:nvSpPr>
        <p:spPr>
          <a:xfrm rot="-10800000">
            <a:off x="12181725" y="1343760"/>
            <a:ext cx="4120906" cy="902018"/>
          </a:xfrm>
          <a:custGeom>
            <a:avLst/>
            <a:gdLst/>
            <a:ahLst/>
            <a:cxnLst/>
            <a:rect l="l" t="t" r="r" b="b"/>
            <a:pathLst>
              <a:path w="4120906" h="902018">
                <a:moveTo>
                  <a:pt x="0" y="0"/>
                </a:moveTo>
                <a:lnTo>
                  <a:pt x="4120906" y="0"/>
                </a:lnTo>
                <a:lnTo>
                  <a:pt x="4120906" y="902017"/>
                </a:lnTo>
                <a:lnTo>
                  <a:pt x="0" y="902017"/>
                </a:lnTo>
                <a:lnTo>
                  <a:pt x="0" y="0"/>
                </a:lnTo>
                <a:close/>
              </a:path>
            </a:pathLst>
          </a:custGeom>
          <a:blipFill>
            <a:blip r:embed="rId2"/>
            <a:stretch>
              <a:fillRect b="-76215"/>
            </a:stretch>
          </a:blipFill>
        </p:spPr>
      </p:sp>
      <p:sp>
        <p:nvSpPr>
          <p:cNvPr id="11" name="Freeform 11"/>
          <p:cNvSpPr/>
          <p:nvPr/>
        </p:nvSpPr>
        <p:spPr>
          <a:xfrm rot="-10800000">
            <a:off x="9796162" y="5758503"/>
            <a:ext cx="4499651" cy="1689854"/>
          </a:xfrm>
          <a:custGeom>
            <a:avLst/>
            <a:gdLst/>
            <a:ahLst/>
            <a:cxnLst/>
            <a:rect l="l" t="t" r="r" b="b"/>
            <a:pathLst>
              <a:path w="4499651" h="1689854">
                <a:moveTo>
                  <a:pt x="0" y="0"/>
                </a:moveTo>
                <a:lnTo>
                  <a:pt x="4499650" y="0"/>
                </a:lnTo>
                <a:lnTo>
                  <a:pt x="4499650" y="1689854"/>
                </a:lnTo>
                <a:lnTo>
                  <a:pt x="0" y="1689854"/>
                </a:lnTo>
                <a:lnTo>
                  <a:pt x="0" y="0"/>
                </a:lnTo>
                <a:close/>
              </a:path>
            </a:pathLst>
          </a:custGeom>
          <a:blipFill>
            <a:blip r:embed="rId2"/>
            <a:stretch>
              <a:fillRect b="-2705"/>
            </a:stretch>
          </a:blipFill>
        </p:spPr>
      </p:sp>
      <p:sp>
        <p:nvSpPr>
          <p:cNvPr id="12" name="Freeform 12"/>
          <p:cNvSpPr/>
          <p:nvPr/>
        </p:nvSpPr>
        <p:spPr>
          <a:xfrm>
            <a:off x="6716233" y="8089137"/>
            <a:ext cx="4322667" cy="937006"/>
          </a:xfrm>
          <a:custGeom>
            <a:avLst/>
            <a:gdLst/>
            <a:ahLst/>
            <a:cxnLst/>
            <a:rect l="l" t="t" r="r" b="b"/>
            <a:pathLst>
              <a:path w="4322667" h="937006">
                <a:moveTo>
                  <a:pt x="0" y="0"/>
                </a:moveTo>
                <a:lnTo>
                  <a:pt x="4322668" y="0"/>
                </a:lnTo>
                <a:lnTo>
                  <a:pt x="4322668" y="937006"/>
                </a:lnTo>
                <a:lnTo>
                  <a:pt x="0" y="937006"/>
                </a:lnTo>
                <a:lnTo>
                  <a:pt x="0" y="0"/>
                </a:lnTo>
                <a:close/>
              </a:path>
            </a:pathLst>
          </a:custGeom>
          <a:blipFill>
            <a:blip r:embed="rId2"/>
            <a:stretch>
              <a:fillRect b="-77940"/>
            </a:stretch>
          </a:blipFill>
        </p:spPr>
      </p:sp>
      <p:sp>
        <p:nvSpPr>
          <p:cNvPr id="13" name="Freeform 13"/>
          <p:cNvSpPr/>
          <p:nvPr/>
        </p:nvSpPr>
        <p:spPr>
          <a:xfrm>
            <a:off x="10354808" y="7448357"/>
            <a:ext cx="413715" cy="676989"/>
          </a:xfrm>
          <a:custGeom>
            <a:avLst/>
            <a:gdLst/>
            <a:ahLst/>
            <a:cxnLst/>
            <a:rect l="l" t="t" r="r" b="b"/>
            <a:pathLst>
              <a:path w="413715" h="676989">
                <a:moveTo>
                  <a:pt x="0" y="0"/>
                </a:moveTo>
                <a:lnTo>
                  <a:pt x="413716" y="0"/>
                </a:lnTo>
                <a:lnTo>
                  <a:pt x="413716" y="676988"/>
                </a:lnTo>
                <a:lnTo>
                  <a:pt x="0" y="676988"/>
                </a:lnTo>
                <a:lnTo>
                  <a:pt x="0" y="0"/>
                </a:lnTo>
                <a:close/>
              </a:path>
            </a:pathLst>
          </a:custGeom>
          <a:blipFill>
            <a:blip r:embed="rId3"/>
            <a:stretch>
              <a:fillRect/>
            </a:stretch>
          </a:blipFill>
        </p:spPr>
      </p:sp>
      <p:sp>
        <p:nvSpPr>
          <p:cNvPr id="14" name="TextBox 14"/>
          <p:cNvSpPr txBox="1"/>
          <p:nvPr/>
        </p:nvSpPr>
        <p:spPr>
          <a:xfrm>
            <a:off x="3798260" y="4973714"/>
            <a:ext cx="5079307" cy="527642"/>
          </a:xfrm>
          <a:prstGeom prst="rect">
            <a:avLst/>
          </a:prstGeom>
        </p:spPr>
        <p:txBody>
          <a:bodyPr lIns="0" tIns="0" rIns="0" bIns="0" rtlCol="0" anchor="t">
            <a:spAutoFit/>
          </a:bodyPr>
          <a:lstStyle/>
          <a:p>
            <a:pPr algn="ctr">
              <a:lnSpc>
                <a:spcPts val="4156"/>
              </a:lnSpc>
            </a:pPr>
            <a:r>
              <a:rPr lang="en-US" sz="2968">
                <a:solidFill>
                  <a:srgbClr val="344E41"/>
                </a:solidFill>
                <a:latin typeface="Raleway 2"/>
                <a:ea typeface="Raleway 2"/>
                <a:cs typeface="Raleway 2"/>
                <a:sym typeface="Raleway 2"/>
              </a:rPr>
              <a:t>Data understanding </a:t>
            </a:r>
          </a:p>
        </p:txBody>
      </p:sp>
      <p:sp>
        <p:nvSpPr>
          <p:cNvPr id="15" name="TextBox 15"/>
          <p:cNvSpPr txBox="1"/>
          <p:nvPr/>
        </p:nvSpPr>
        <p:spPr>
          <a:xfrm>
            <a:off x="5184526" y="6677519"/>
            <a:ext cx="3947366" cy="493569"/>
          </a:xfrm>
          <a:prstGeom prst="rect">
            <a:avLst/>
          </a:prstGeom>
        </p:spPr>
        <p:txBody>
          <a:bodyPr lIns="0" tIns="0" rIns="0" bIns="0" rtlCol="0" anchor="t">
            <a:spAutoFit/>
          </a:bodyPr>
          <a:lstStyle/>
          <a:p>
            <a:pPr algn="ctr">
              <a:lnSpc>
                <a:spcPts val="3930"/>
              </a:lnSpc>
            </a:pPr>
            <a:r>
              <a:rPr lang="en-US" sz="2807">
                <a:solidFill>
                  <a:srgbClr val="344E41"/>
                </a:solidFill>
                <a:latin typeface="Raleway 2"/>
                <a:ea typeface="Raleway 2"/>
                <a:cs typeface="Raleway 2"/>
                <a:sym typeface="Raleway 2"/>
              </a:rPr>
              <a:t>Feature Engineering</a:t>
            </a:r>
          </a:p>
        </p:txBody>
      </p:sp>
      <p:sp>
        <p:nvSpPr>
          <p:cNvPr id="16" name="TextBox 16"/>
          <p:cNvSpPr txBox="1"/>
          <p:nvPr/>
        </p:nvSpPr>
        <p:spPr>
          <a:xfrm>
            <a:off x="1028700" y="230137"/>
            <a:ext cx="4226504" cy="796258"/>
          </a:xfrm>
          <a:prstGeom prst="rect">
            <a:avLst/>
          </a:prstGeom>
        </p:spPr>
        <p:txBody>
          <a:bodyPr lIns="0" tIns="0" rIns="0" bIns="0" rtlCol="0" anchor="t">
            <a:spAutoFit/>
          </a:bodyPr>
          <a:lstStyle/>
          <a:p>
            <a:pPr algn="l">
              <a:lnSpc>
                <a:spcPts val="6511"/>
              </a:lnSpc>
            </a:pPr>
            <a:r>
              <a:rPr lang="en-US" sz="4651">
                <a:solidFill>
                  <a:srgbClr val="344E41"/>
                </a:solidFill>
                <a:latin typeface="Prata"/>
                <a:ea typeface="Prata"/>
                <a:cs typeface="Prata"/>
                <a:sym typeface="Prata"/>
              </a:rPr>
              <a:t>FLOWCHART</a:t>
            </a:r>
          </a:p>
        </p:txBody>
      </p:sp>
      <p:sp>
        <p:nvSpPr>
          <p:cNvPr id="17" name="TextBox 17"/>
          <p:cNvSpPr txBox="1"/>
          <p:nvPr/>
        </p:nvSpPr>
        <p:spPr>
          <a:xfrm>
            <a:off x="17091660" y="9510857"/>
            <a:ext cx="167640"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5</a:t>
            </a:r>
          </a:p>
        </p:txBody>
      </p:sp>
      <p:sp>
        <p:nvSpPr>
          <p:cNvPr id="18" name="TextBox 18"/>
          <p:cNvSpPr txBox="1"/>
          <p:nvPr/>
        </p:nvSpPr>
        <p:spPr>
          <a:xfrm>
            <a:off x="1606624" y="3387591"/>
            <a:ext cx="6446065" cy="457073"/>
          </a:xfrm>
          <a:prstGeom prst="rect">
            <a:avLst/>
          </a:prstGeom>
        </p:spPr>
        <p:txBody>
          <a:bodyPr lIns="0" tIns="0" rIns="0" bIns="0" rtlCol="0" anchor="t">
            <a:spAutoFit/>
          </a:bodyPr>
          <a:lstStyle/>
          <a:p>
            <a:pPr algn="ctr">
              <a:lnSpc>
                <a:spcPts val="3682"/>
              </a:lnSpc>
            </a:pPr>
            <a:r>
              <a:rPr lang="en-US" sz="2630">
                <a:solidFill>
                  <a:srgbClr val="344E41"/>
                </a:solidFill>
                <a:latin typeface="Raleway 2"/>
                <a:ea typeface="Raleway 2"/>
                <a:cs typeface="Raleway 2"/>
                <a:sym typeface="Raleway 2"/>
              </a:rPr>
              <a:t>DATA PREPROCESSING</a:t>
            </a:r>
          </a:p>
        </p:txBody>
      </p:sp>
      <p:sp>
        <p:nvSpPr>
          <p:cNvPr id="19" name="TextBox 19"/>
          <p:cNvSpPr txBox="1"/>
          <p:nvPr/>
        </p:nvSpPr>
        <p:spPr>
          <a:xfrm>
            <a:off x="8614733" y="6659433"/>
            <a:ext cx="6653441" cy="529740"/>
          </a:xfrm>
          <a:prstGeom prst="rect">
            <a:avLst/>
          </a:prstGeom>
        </p:spPr>
        <p:txBody>
          <a:bodyPr lIns="0" tIns="0" rIns="0" bIns="0" rtlCol="0" anchor="t">
            <a:spAutoFit/>
          </a:bodyPr>
          <a:lstStyle/>
          <a:p>
            <a:pPr algn="ctr">
              <a:lnSpc>
                <a:spcPts val="4263"/>
              </a:lnSpc>
            </a:pPr>
            <a:r>
              <a:rPr lang="en-US" sz="3045">
                <a:solidFill>
                  <a:srgbClr val="344E41"/>
                </a:solidFill>
                <a:latin typeface="Raleway 2"/>
                <a:ea typeface="Raleway 2"/>
                <a:cs typeface="Raleway 2"/>
                <a:sym typeface="Raleway 2"/>
              </a:rPr>
              <a:t>Model training</a:t>
            </a:r>
          </a:p>
        </p:txBody>
      </p:sp>
      <p:sp>
        <p:nvSpPr>
          <p:cNvPr id="20" name="TextBox 20"/>
          <p:cNvSpPr txBox="1"/>
          <p:nvPr/>
        </p:nvSpPr>
        <p:spPr>
          <a:xfrm>
            <a:off x="9598978" y="4892293"/>
            <a:ext cx="6486434" cy="527642"/>
          </a:xfrm>
          <a:prstGeom prst="rect">
            <a:avLst/>
          </a:prstGeom>
        </p:spPr>
        <p:txBody>
          <a:bodyPr lIns="0" tIns="0" rIns="0" bIns="0" rtlCol="0" anchor="t">
            <a:spAutoFit/>
          </a:bodyPr>
          <a:lstStyle/>
          <a:p>
            <a:pPr algn="ctr">
              <a:lnSpc>
                <a:spcPts val="4156"/>
              </a:lnSpc>
            </a:pPr>
            <a:r>
              <a:rPr lang="en-US" sz="2968">
                <a:solidFill>
                  <a:srgbClr val="344E41"/>
                </a:solidFill>
                <a:latin typeface="Raleway 2"/>
                <a:ea typeface="Raleway 2"/>
                <a:cs typeface="Raleway 2"/>
                <a:sym typeface="Raleway 2"/>
              </a:rPr>
              <a:t>Prediction </a:t>
            </a:r>
          </a:p>
        </p:txBody>
      </p:sp>
      <p:sp>
        <p:nvSpPr>
          <p:cNvPr id="21" name="TextBox 21"/>
          <p:cNvSpPr txBox="1"/>
          <p:nvPr/>
        </p:nvSpPr>
        <p:spPr>
          <a:xfrm>
            <a:off x="2296108" y="1689964"/>
            <a:ext cx="3004304" cy="457073"/>
          </a:xfrm>
          <a:prstGeom prst="rect">
            <a:avLst/>
          </a:prstGeom>
        </p:spPr>
        <p:txBody>
          <a:bodyPr lIns="0" tIns="0" rIns="0" bIns="0" rtlCol="0" anchor="t">
            <a:spAutoFit/>
          </a:bodyPr>
          <a:lstStyle/>
          <a:p>
            <a:pPr algn="ctr">
              <a:lnSpc>
                <a:spcPts val="3682"/>
              </a:lnSpc>
            </a:pPr>
            <a:r>
              <a:rPr lang="en-US" sz="2630">
                <a:solidFill>
                  <a:srgbClr val="344E41"/>
                </a:solidFill>
                <a:latin typeface="Raleway 2"/>
                <a:ea typeface="Raleway 2"/>
                <a:cs typeface="Raleway 2"/>
                <a:sym typeface="Raleway 2"/>
              </a:rPr>
              <a:t>DATA COLLECTION</a:t>
            </a:r>
          </a:p>
        </p:txBody>
      </p:sp>
      <p:sp>
        <p:nvSpPr>
          <p:cNvPr id="22" name="TextBox 22"/>
          <p:cNvSpPr txBox="1"/>
          <p:nvPr/>
        </p:nvSpPr>
        <p:spPr>
          <a:xfrm>
            <a:off x="7091534" y="8164252"/>
            <a:ext cx="3783393" cy="796302"/>
          </a:xfrm>
          <a:prstGeom prst="rect">
            <a:avLst/>
          </a:prstGeom>
        </p:spPr>
        <p:txBody>
          <a:bodyPr lIns="0" tIns="0" rIns="0" bIns="0" rtlCol="0" anchor="t">
            <a:spAutoFit/>
          </a:bodyPr>
          <a:lstStyle/>
          <a:p>
            <a:pPr algn="ctr">
              <a:lnSpc>
                <a:spcPts val="3180"/>
              </a:lnSpc>
            </a:pPr>
            <a:r>
              <a:rPr lang="en-US" sz="2271">
                <a:solidFill>
                  <a:srgbClr val="344E41"/>
                </a:solidFill>
                <a:latin typeface="Raleway 2"/>
                <a:ea typeface="Raleway 2"/>
                <a:cs typeface="Raleway 2"/>
                <a:sym typeface="Raleway 2"/>
              </a:rPr>
              <a:t>Model Selection- Random Forest regressor</a:t>
            </a:r>
          </a:p>
        </p:txBody>
      </p:sp>
      <p:sp>
        <p:nvSpPr>
          <p:cNvPr id="23" name="TextBox 23"/>
          <p:cNvSpPr txBox="1"/>
          <p:nvPr/>
        </p:nvSpPr>
        <p:spPr>
          <a:xfrm>
            <a:off x="13160003" y="1412591"/>
            <a:ext cx="2543094" cy="605252"/>
          </a:xfrm>
          <a:prstGeom prst="rect">
            <a:avLst/>
          </a:prstGeom>
        </p:spPr>
        <p:txBody>
          <a:bodyPr lIns="0" tIns="0" rIns="0" bIns="0" rtlCol="0" anchor="t">
            <a:spAutoFit/>
          </a:bodyPr>
          <a:lstStyle/>
          <a:p>
            <a:pPr algn="ctr">
              <a:lnSpc>
                <a:spcPts val="4863"/>
              </a:lnSpc>
            </a:pPr>
            <a:r>
              <a:rPr lang="en-US" sz="3474">
                <a:solidFill>
                  <a:srgbClr val="344E41"/>
                </a:solidFill>
                <a:latin typeface="Raleway 2"/>
                <a:ea typeface="Raleway 2"/>
                <a:cs typeface="Raleway 2"/>
                <a:sym typeface="Raleway 2"/>
              </a:rPr>
              <a:t>Visualisation</a:t>
            </a:r>
          </a:p>
        </p:txBody>
      </p:sp>
      <p:sp>
        <p:nvSpPr>
          <p:cNvPr id="24" name="TextBox 24"/>
          <p:cNvSpPr txBox="1"/>
          <p:nvPr/>
        </p:nvSpPr>
        <p:spPr>
          <a:xfrm>
            <a:off x="12181725" y="3147243"/>
            <a:ext cx="3350047" cy="528323"/>
          </a:xfrm>
          <a:prstGeom prst="rect">
            <a:avLst/>
          </a:prstGeom>
        </p:spPr>
        <p:txBody>
          <a:bodyPr lIns="0" tIns="0" rIns="0" bIns="0" rtlCol="0" anchor="t">
            <a:spAutoFit/>
          </a:bodyPr>
          <a:lstStyle/>
          <a:p>
            <a:pPr algn="ctr">
              <a:lnSpc>
                <a:spcPts val="4244"/>
              </a:lnSpc>
            </a:pPr>
            <a:r>
              <a:rPr lang="en-US" sz="3031">
                <a:solidFill>
                  <a:srgbClr val="344E41"/>
                </a:solidFill>
                <a:latin typeface="Raleway 2"/>
                <a:ea typeface="Raleway 2"/>
                <a:cs typeface="Raleway 2"/>
                <a:sym typeface="Raleway 2"/>
              </a:rPr>
              <a:t>Stock Sufficiency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1449995" y="4249015"/>
            <a:ext cx="15388010" cy="4058588"/>
          </a:xfrm>
          <a:custGeom>
            <a:avLst/>
            <a:gdLst/>
            <a:ahLst/>
            <a:cxnLst/>
            <a:rect l="l" t="t" r="r" b="b"/>
            <a:pathLst>
              <a:path w="15388010" h="4058588">
                <a:moveTo>
                  <a:pt x="0" y="0"/>
                </a:moveTo>
                <a:lnTo>
                  <a:pt x="15388010" y="0"/>
                </a:lnTo>
                <a:lnTo>
                  <a:pt x="15388010" y="4058587"/>
                </a:lnTo>
                <a:lnTo>
                  <a:pt x="0" y="4058587"/>
                </a:lnTo>
                <a:lnTo>
                  <a:pt x="0" y="0"/>
                </a:lnTo>
                <a:close/>
              </a:path>
            </a:pathLst>
          </a:custGeom>
          <a:blipFill>
            <a:blip r:embed="rId2"/>
            <a:stretch>
              <a:fillRect/>
            </a:stretch>
          </a:blipFill>
        </p:spPr>
      </p:sp>
      <p:sp>
        <p:nvSpPr>
          <p:cNvPr id="5" name="TextBox 5"/>
          <p:cNvSpPr txBox="1"/>
          <p:nvPr/>
        </p:nvSpPr>
        <p:spPr>
          <a:xfrm>
            <a:off x="1028700" y="933450"/>
            <a:ext cx="7299227" cy="821055"/>
          </a:xfrm>
          <a:prstGeom prst="rect">
            <a:avLst/>
          </a:prstGeom>
        </p:spPr>
        <p:txBody>
          <a:bodyPr lIns="0" tIns="0" rIns="0" bIns="0" rtlCol="0" anchor="t">
            <a:spAutoFit/>
          </a:bodyPr>
          <a:lstStyle/>
          <a:p>
            <a:pPr algn="l">
              <a:lnSpc>
                <a:spcPts val="6719"/>
              </a:lnSpc>
            </a:pPr>
            <a:r>
              <a:rPr lang="en-US" sz="4800">
                <a:solidFill>
                  <a:srgbClr val="344E41"/>
                </a:solidFill>
                <a:latin typeface="Prata"/>
                <a:ea typeface="Prata"/>
                <a:cs typeface="Prata"/>
                <a:sym typeface="Prata"/>
              </a:rPr>
              <a:t>DATA COLLECTION</a:t>
            </a:r>
          </a:p>
        </p:txBody>
      </p:sp>
      <p:sp>
        <p:nvSpPr>
          <p:cNvPr id="6" name="TextBox 6"/>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6</a:t>
            </a:r>
          </a:p>
        </p:txBody>
      </p:sp>
      <p:sp>
        <p:nvSpPr>
          <p:cNvPr id="7" name="TextBox 7"/>
          <p:cNvSpPr txBox="1"/>
          <p:nvPr/>
        </p:nvSpPr>
        <p:spPr>
          <a:xfrm>
            <a:off x="1028700" y="2052955"/>
            <a:ext cx="16767186" cy="1703105"/>
          </a:xfrm>
          <a:prstGeom prst="rect">
            <a:avLst/>
          </a:prstGeom>
        </p:spPr>
        <p:txBody>
          <a:bodyPr lIns="0" tIns="0" rIns="0" bIns="0" rtlCol="0" anchor="t">
            <a:spAutoFit/>
          </a:bodyPr>
          <a:lstStyle/>
          <a:p>
            <a:pPr marL="519042" lvl="1" indent="-259521" algn="l">
              <a:lnSpc>
                <a:spcPts val="3365"/>
              </a:lnSpc>
              <a:buFont typeface="Arial"/>
              <a:buChar char="•"/>
            </a:pPr>
            <a:r>
              <a:rPr lang="en-US" sz="2404">
                <a:solidFill>
                  <a:srgbClr val="000000"/>
                </a:solidFill>
                <a:latin typeface="Raleway 1"/>
                <a:ea typeface="Raleway 1"/>
                <a:cs typeface="Raleway 1"/>
                <a:sym typeface="Raleway 1"/>
              </a:rPr>
              <a:t>The dataset was sourced from Kaggle and contains retail inventory and sales data.</a:t>
            </a:r>
          </a:p>
          <a:p>
            <a:pPr marL="519042" lvl="1" indent="-259521" algn="l">
              <a:lnSpc>
                <a:spcPts val="3365"/>
              </a:lnSpc>
              <a:buFont typeface="Arial"/>
              <a:buChar char="•"/>
            </a:pPr>
            <a:r>
              <a:rPr lang="en-US" sz="2404">
                <a:solidFill>
                  <a:srgbClr val="000000"/>
                </a:solidFill>
                <a:latin typeface="Raleway 1"/>
                <a:ea typeface="Raleway 1"/>
                <a:cs typeface="Raleway 1"/>
                <a:sym typeface="Raleway 1"/>
              </a:rPr>
              <a:t>The dataset is deemed suitable for analyzing demand forecasting and supply chain optimization.</a:t>
            </a:r>
          </a:p>
          <a:p>
            <a:pPr marL="519042" lvl="1" indent="-259521" algn="l">
              <a:lnSpc>
                <a:spcPts val="3365"/>
              </a:lnSpc>
              <a:buFont typeface="Arial"/>
              <a:buChar char="•"/>
            </a:pPr>
            <a:r>
              <a:rPr lang="en-US" sz="2404">
                <a:solidFill>
                  <a:srgbClr val="000000"/>
                </a:solidFill>
                <a:latin typeface="Raleway 1"/>
                <a:ea typeface="Raleway 1"/>
                <a:cs typeface="Raleway 1"/>
                <a:sym typeface="Raleway 1"/>
              </a:rPr>
              <a:t>df.h</a:t>
            </a:r>
            <a:r>
              <a:rPr lang="en-US" sz="2404" u="none" strike="noStrike">
                <a:solidFill>
                  <a:srgbClr val="000000"/>
                </a:solidFill>
                <a:latin typeface="Raleway 1"/>
                <a:ea typeface="Raleway 1"/>
                <a:cs typeface="Raleway 1"/>
                <a:sym typeface="Raleway 1"/>
              </a:rPr>
              <a:t>ead() displays the first 5 records of the dataset.</a:t>
            </a:r>
          </a:p>
          <a:p>
            <a:pPr marL="519042" lvl="1" indent="-259521" algn="l">
              <a:lnSpc>
                <a:spcPts val="3365"/>
              </a:lnSpc>
              <a:buFont typeface="Arial"/>
              <a:buChar char="•"/>
            </a:pPr>
            <a:r>
              <a:rPr lang="en-US" sz="2404" u="none" strike="noStrike">
                <a:solidFill>
                  <a:srgbClr val="000000"/>
                </a:solidFill>
                <a:latin typeface="Raleway 1"/>
                <a:ea typeface="Raleway 1"/>
                <a:cs typeface="Raleway 1"/>
                <a:sym typeface="Raleway 1"/>
              </a:rPr>
              <a:t>It helps in understanding column names, data structure, and sample values.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492468" y="2443789"/>
            <a:ext cx="10179901" cy="5878340"/>
          </a:xfrm>
          <a:custGeom>
            <a:avLst/>
            <a:gdLst/>
            <a:ahLst/>
            <a:cxnLst/>
            <a:rect l="l" t="t" r="r" b="b"/>
            <a:pathLst>
              <a:path w="10179901" h="5878340">
                <a:moveTo>
                  <a:pt x="0" y="0"/>
                </a:moveTo>
                <a:lnTo>
                  <a:pt x="10179901" y="0"/>
                </a:lnTo>
                <a:lnTo>
                  <a:pt x="10179901" y="5878340"/>
                </a:lnTo>
                <a:lnTo>
                  <a:pt x="0" y="5878340"/>
                </a:lnTo>
                <a:lnTo>
                  <a:pt x="0" y="0"/>
                </a:lnTo>
                <a:close/>
              </a:path>
            </a:pathLst>
          </a:custGeom>
          <a:blipFill>
            <a:blip r:embed="rId2"/>
            <a:stretch>
              <a:fillRect/>
            </a:stretch>
          </a:blipFill>
        </p:spPr>
      </p:sp>
      <p:sp>
        <p:nvSpPr>
          <p:cNvPr id="5" name="TextBox 5"/>
          <p:cNvSpPr txBox="1"/>
          <p:nvPr/>
        </p:nvSpPr>
        <p:spPr>
          <a:xfrm>
            <a:off x="1028700" y="933450"/>
            <a:ext cx="14351803" cy="821055"/>
          </a:xfrm>
          <a:prstGeom prst="rect">
            <a:avLst/>
          </a:prstGeom>
        </p:spPr>
        <p:txBody>
          <a:bodyPr lIns="0" tIns="0" rIns="0" bIns="0" rtlCol="0" anchor="t">
            <a:spAutoFit/>
          </a:bodyPr>
          <a:lstStyle/>
          <a:p>
            <a:pPr algn="l">
              <a:lnSpc>
                <a:spcPts val="6719"/>
              </a:lnSpc>
            </a:pPr>
            <a:r>
              <a:rPr lang="en-US" sz="4800">
                <a:solidFill>
                  <a:srgbClr val="344E41"/>
                </a:solidFill>
                <a:latin typeface="Prata"/>
                <a:ea typeface="Prata"/>
                <a:cs typeface="Prata"/>
                <a:sym typeface="Prata"/>
              </a:rPr>
              <a:t>UNDERSTANDING &amp; PRE-PROCESSING</a:t>
            </a:r>
          </a:p>
        </p:txBody>
      </p:sp>
      <p:sp>
        <p:nvSpPr>
          <p:cNvPr id="6" name="TextBox 6"/>
          <p:cNvSpPr txBox="1"/>
          <p:nvPr/>
        </p:nvSpPr>
        <p:spPr>
          <a:xfrm>
            <a:off x="17099280" y="9510857"/>
            <a:ext cx="160020"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7</a:t>
            </a:r>
          </a:p>
        </p:txBody>
      </p:sp>
      <p:sp>
        <p:nvSpPr>
          <p:cNvPr id="7" name="TextBox 7"/>
          <p:cNvSpPr txBox="1"/>
          <p:nvPr/>
        </p:nvSpPr>
        <p:spPr>
          <a:xfrm>
            <a:off x="11198637" y="2470416"/>
            <a:ext cx="6263001" cy="5576673"/>
          </a:xfrm>
          <a:prstGeom prst="rect">
            <a:avLst/>
          </a:prstGeom>
        </p:spPr>
        <p:txBody>
          <a:bodyPr lIns="0" tIns="0" rIns="0" bIns="0" rtlCol="0" anchor="t">
            <a:spAutoFit/>
          </a:bodyPr>
          <a:lstStyle/>
          <a:p>
            <a:pPr marL="528080" lvl="1" indent="-264040" algn="l">
              <a:lnSpc>
                <a:spcPts val="3424"/>
              </a:lnSpc>
              <a:buFont typeface="Arial"/>
              <a:buChar char="•"/>
            </a:pPr>
            <a:r>
              <a:rPr lang="en-US" sz="2445">
                <a:solidFill>
                  <a:srgbClr val="000000"/>
                </a:solidFill>
                <a:latin typeface="Raleway 1"/>
                <a:ea typeface="Raleway 1"/>
                <a:cs typeface="Raleway 1"/>
                <a:sym typeface="Raleway 1"/>
              </a:rPr>
              <a:t>After running df.describe(), we observe that the dataset contains 73,100 records with no missing values in the numerical columns.</a:t>
            </a:r>
          </a:p>
          <a:p>
            <a:pPr algn="l">
              <a:lnSpc>
                <a:spcPts val="3424"/>
              </a:lnSpc>
            </a:pPr>
            <a:endParaRPr lang="en-US" sz="2445">
              <a:solidFill>
                <a:srgbClr val="000000"/>
              </a:solidFill>
              <a:latin typeface="Raleway 1"/>
              <a:ea typeface="Raleway 1"/>
              <a:cs typeface="Raleway 1"/>
              <a:sym typeface="Raleway 1"/>
            </a:endParaRPr>
          </a:p>
          <a:p>
            <a:pPr marL="528080" lvl="1" indent="-264040" algn="l">
              <a:lnSpc>
                <a:spcPts val="3424"/>
              </a:lnSpc>
              <a:buFont typeface="Arial"/>
              <a:buChar char="•"/>
            </a:pPr>
            <a:r>
              <a:rPr lang="en-US" sz="2445">
                <a:solidFill>
                  <a:srgbClr val="000000"/>
                </a:solidFill>
                <a:latin typeface="Raleway 1"/>
                <a:ea typeface="Raleway 1"/>
                <a:cs typeface="Raleway 1"/>
                <a:sym typeface="Raleway 1"/>
              </a:rPr>
              <a:t> The average inventory is 274 units, while the average sales are 136 units, indicating that stock is generally higher than sales.</a:t>
            </a:r>
          </a:p>
          <a:p>
            <a:pPr algn="l">
              <a:lnSpc>
                <a:spcPts val="3424"/>
              </a:lnSpc>
            </a:pPr>
            <a:endParaRPr lang="en-US" sz="2445">
              <a:solidFill>
                <a:srgbClr val="000000"/>
              </a:solidFill>
              <a:latin typeface="Raleway 1"/>
              <a:ea typeface="Raleway 1"/>
              <a:cs typeface="Raleway 1"/>
              <a:sym typeface="Raleway 1"/>
            </a:endParaRPr>
          </a:p>
          <a:p>
            <a:pPr marL="528080" lvl="1" indent="-264040" algn="l">
              <a:lnSpc>
                <a:spcPts val="3424"/>
              </a:lnSpc>
              <a:buFont typeface="Arial"/>
              <a:buChar char="•"/>
            </a:pPr>
            <a:r>
              <a:rPr lang="en-US" sz="2445">
                <a:solidFill>
                  <a:srgbClr val="000000"/>
                </a:solidFill>
                <a:latin typeface="Raleway 1"/>
                <a:ea typeface="Raleway 1"/>
                <a:cs typeface="Raleway 1"/>
                <a:sym typeface="Raleway 1"/>
              </a:rPr>
              <a:t> The average demand forecast (141) is close to actual sales.</a:t>
            </a:r>
          </a:p>
          <a:p>
            <a:pPr algn="l">
              <a:lnSpc>
                <a:spcPts val="3424"/>
              </a:lnSpc>
            </a:pPr>
            <a:endParaRPr lang="en-US" sz="2445">
              <a:solidFill>
                <a:srgbClr val="000000"/>
              </a:solidFill>
              <a:latin typeface="Raleway 1"/>
              <a:ea typeface="Raleway 1"/>
              <a:cs typeface="Raleway 1"/>
              <a:sym typeface="Raleway 1"/>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1210117" y="1738608"/>
            <a:ext cx="7175901" cy="6809784"/>
          </a:xfrm>
          <a:custGeom>
            <a:avLst/>
            <a:gdLst/>
            <a:ahLst/>
            <a:cxnLst/>
            <a:rect l="l" t="t" r="r" b="b"/>
            <a:pathLst>
              <a:path w="7175901" h="6809784">
                <a:moveTo>
                  <a:pt x="0" y="0"/>
                </a:moveTo>
                <a:lnTo>
                  <a:pt x="7175902" y="0"/>
                </a:lnTo>
                <a:lnTo>
                  <a:pt x="7175902" y="6809784"/>
                </a:lnTo>
                <a:lnTo>
                  <a:pt x="0" y="6809784"/>
                </a:lnTo>
                <a:lnTo>
                  <a:pt x="0" y="0"/>
                </a:lnTo>
                <a:close/>
              </a:path>
            </a:pathLst>
          </a:custGeom>
          <a:blipFill>
            <a:blip r:embed="rId2"/>
            <a:stretch>
              <a:fillRect/>
            </a:stretch>
          </a:blipFill>
        </p:spPr>
      </p:sp>
      <p:sp>
        <p:nvSpPr>
          <p:cNvPr id="5" name="Freeform 5"/>
          <p:cNvSpPr/>
          <p:nvPr/>
        </p:nvSpPr>
        <p:spPr>
          <a:xfrm>
            <a:off x="9340235" y="5995402"/>
            <a:ext cx="8753362" cy="1769613"/>
          </a:xfrm>
          <a:custGeom>
            <a:avLst/>
            <a:gdLst/>
            <a:ahLst/>
            <a:cxnLst/>
            <a:rect l="l" t="t" r="r" b="b"/>
            <a:pathLst>
              <a:path w="8753362" h="1769613">
                <a:moveTo>
                  <a:pt x="0" y="0"/>
                </a:moveTo>
                <a:lnTo>
                  <a:pt x="8753362" y="0"/>
                </a:lnTo>
                <a:lnTo>
                  <a:pt x="8753362" y="1769613"/>
                </a:lnTo>
                <a:lnTo>
                  <a:pt x="0" y="1769613"/>
                </a:lnTo>
                <a:lnTo>
                  <a:pt x="0" y="0"/>
                </a:lnTo>
                <a:close/>
              </a:path>
            </a:pathLst>
          </a:custGeom>
          <a:blipFill>
            <a:blip r:embed="rId3"/>
            <a:stretch>
              <a:fillRect r="-2092"/>
            </a:stretch>
          </a:blipFill>
        </p:spPr>
      </p:sp>
      <p:sp>
        <p:nvSpPr>
          <p:cNvPr id="6" name="TextBox 6"/>
          <p:cNvSpPr txBox="1"/>
          <p:nvPr/>
        </p:nvSpPr>
        <p:spPr>
          <a:xfrm>
            <a:off x="1028700" y="570548"/>
            <a:ext cx="14351803" cy="821055"/>
          </a:xfrm>
          <a:prstGeom prst="rect">
            <a:avLst/>
          </a:prstGeom>
        </p:spPr>
        <p:txBody>
          <a:bodyPr lIns="0" tIns="0" rIns="0" bIns="0" rtlCol="0" anchor="t">
            <a:spAutoFit/>
          </a:bodyPr>
          <a:lstStyle/>
          <a:p>
            <a:pPr algn="l">
              <a:lnSpc>
                <a:spcPts val="6719"/>
              </a:lnSpc>
            </a:pPr>
            <a:r>
              <a:rPr lang="en-US" sz="4800">
                <a:solidFill>
                  <a:srgbClr val="344E41"/>
                </a:solidFill>
                <a:latin typeface="Prata"/>
                <a:ea typeface="Prata"/>
                <a:cs typeface="Prata"/>
                <a:sym typeface="Prata"/>
              </a:rPr>
              <a:t>UNDERSTANDING &amp; PRE-PROCESSING</a:t>
            </a:r>
          </a:p>
        </p:txBody>
      </p:sp>
      <p:sp>
        <p:nvSpPr>
          <p:cNvPr id="7" name="TextBox 7"/>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8</a:t>
            </a:r>
          </a:p>
        </p:txBody>
      </p:sp>
      <p:sp>
        <p:nvSpPr>
          <p:cNvPr id="8" name="TextBox 8"/>
          <p:cNvSpPr txBox="1"/>
          <p:nvPr/>
        </p:nvSpPr>
        <p:spPr>
          <a:xfrm>
            <a:off x="9144000" y="1926940"/>
            <a:ext cx="8481122" cy="3809135"/>
          </a:xfrm>
          <a:prstGeom prst="rect">
            <a:avLst/>
          </a:prstGeom>
        </p:spPr>
        <p:txBody>
          <a:bodyPr lIns="0" tIns="0" rIns="0" bIns="0" rtlCol="0" anchor="t">
            <a:spAutoFit/>
          </a:bodyPr>
          <a:lstStyle/>
          <a:p>
            <a:pPr marL="580812" lvl="1" indent="-290406" algn="l">
              <a:lnSpc>
                <a:spcPts val="3766"/>
              </a:lnSpc>
              <a:buFont typeface="Arial"/>
              <a:buChar char="•"/>
            </a:pPr>
            <a:r>
              <a:rPr lang="en-US" sz="2690">
                <a:solidFill>
                  <a:srgbClr val="000000"/>
                </a:solidFill>
                <a:latin typeface="Raleway 2"/>
                <a:ea typeface="Raleway 2"/>
                <a:cs typeface="Raleway 2"/>
                <a:sym typeface="Raleway 2"/>
              </a:rPr>
              <a:t>After applying df.isnull().sum(), we found that all columns show 0 missing values.</a:t>
            </a:r>
          </a:p>
          <a:p>
            <a:pPr algn="l">
              <a:lnSpc>
                <a:spcPts val="3766"/>
              </a:lnSpc>
            </a:pPr>
            <a:endParaRPr lang="en-US" sz="2690">
              <a:solidFill>
                <a:srgbClr val="000000"/>
              </a:solidFill>
              <a:latin typeface="Raleway 2"/>
              <a:ea typeface="Raleway 2"/>
              <a:cs typeface="Raleway 2"/>
              <a:sym typeface="Raleway 2"/>
            </a:endParaRPr>
          </a:p>
          <a:p>
            <a:pPr marL="580812" lvl="1" indent="-290406" algn="l">
              <a:lnSpc>
                <a:spcPts val="3766"/>
              </a:lnSpc>
              <a:buFont typeface="Arial"/>
              <a:buChar char="•"/>
            </a:pPr>
            <a:r>
              <a:rPr lang="en-US" sz="2690">
                <a:solidFill>
                  <a:srgbClr val="000000"/>
                </a:solidFill>
                <a:latin typeface="Raleway 2"/>
                <a:ea typeface="Raleway 2"/>
                <a:cs typeface="Raleway 2"/>
                <a:sym typeface="Raleway 2"/>
              </a:rPr>
              <a:t> This means the dataset is complete and clean, with no data gaps.</a:t>
            </a:r>
          </a:p>
          <a:p>
            <a:pPr algn="l">
              <a:lnSpc>
                <a:spcPts val="3766"/>
              </a:lnSpc>
            </a:pPr>
            <a:endParaRPr lang="en-US" sz="2690">
              <a:solidFill>
                <a:srgbClr val="000000"/>
              </a:solidFill>
              <a:latin typeface="Raleway 2"/>
              <a:ea typeface="Raleway 2"/>
              <a:cs typeface="Raleway 2"/>
              <a:sym typeface="Raleway 2"/>
            </a:endParaRPr>
          </a:p>
          <a:p>
            <a:pPr marL="580812" lvl="1" indent="-290406" algn="l">
              <a:lnSpc>
                <a:spcPts val="3766"/>
              </a:lnSpc>
              <a:buFont typeface="Arial"/>
              <a:buChar char="•"/>
            </a:pPr>
            <a:r>
              <a:rPr lang="en-US" sz="2690">
                <a:solidFill>
                  <a:srgbClr val="000000"/>
                </a:solidFill>
                <a:latin typeface="Raleway 2"/>
                <a:ea typeface="Raleway 2"/>
                <a:cs typeface="Raleway 2"/>
                <a:sym typeface="Raleway 2"/>
              </a:rPr>
              <a:t> Therefore, no missing value handling or imputation is required during preprocessing.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3493371" y="1892798"/>
            <a:ext cx="11301259" cy="4661769"/>
          </a:xfrm>
          <a:custGeom>
            <a:avLst/>
            <a:gdLst/>
            <a:ahLst/>
            <a:cxnLst/>
            <a:rect l="l" t="t" r="r" b="b"/>
            <a:pathLst>
              <a:path w="11301259" h="4661769">
                <a:moveTo>
                  <a:pt x="0" y="0"/>
                </a:moveTo>
                <a:lnTo>
                  <a:pt x="11301258" y="0"/>
                </a:lnTo>
                <a:lnTo>
                  <a:pt x="11301258" y="4661769"/>
                </a:lnTo>
                <a:lnTo>
                  <a:pt x="0" y="4661769"/>
                </a:lnTo>
                <a:lnTo>
                  <a:pt x="0" y="0"/>
                </a:lnTo>
                <a:close/>
              </a:path>
            </a:pathLst>
          </a:custGeom>
          <a:blipFill>
            <a:blip r:embed="rId2"/>
            <a:stretch>
              <a:fillRect/>
            </a:stretch>
          </a:blipFill>
        </p:spPr>
      </p:sp>
      <p:sp>
        <p:nvSpPr>
          <p:cNvPr id="5" name="TextBox 5"/>
          <p:cNvSpPr txBox="1"/>
          <p:nvPr/>
        </p:nvSpPr>
        <p:spPr>
          <a:xfrm>
            <a:off x="17084040" y="9510857"/>
            <a:ext cx="175260"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9</a:t>
            </a:r>
          </a:p>
        </p:txBody>
      </p:sp>
      <p:sp>
        <p:nvSpPr>
          <p:cNvPr id="6" name="TextBox 6"/>
          <p:cNvSpPr txBox="1"/>
          <p:nvPr/>
        </p:nvSpPr>
        <p:spPr>
          <a:xfrm>
            <a:off x="1028700" y="519900"/>
            <a:ext cx="7522434" cy="905690"/>
          </a:xfrm>
          <a:prstGeom prst="rect">
            <a:avLst/>
          </a:prstGeom>
        </p:spPr>
        <p:txBody>
          <a:bodyPr lIns="0" tIns="0" rIns="0" bIns="0" rtlCol="0" anchor="t">
            <a:spAutoFit/>
          </a:bodyPr>
          <a:lstStyle/>
          <a:p>
            <a:pPr algn="l">
              <a:lnSpc>
                <a:spcPts val="7305"/>
              </a:lnSpc>
            </a:pPr>
            <a:r>
              <a:rPr lang="en-US" sz="5217">
                <a:solidFill>
                  <a:srgbClr val="344E41"/>
                </a:solidFill>
                <a:latin typeface="Prata"/>
                <a:ea typeface="Prata"/>
                <a:cs typeface="Prata"/>
                <a:sym typeface="Prata"/>
              </a:rPr>
              <a:t>ANALYTICS</a:t>
            </a:r>
          </a:p>
        </p:txBody>
      </p:sp>
      <p:sp>
        <p:nvSpPr>
          <p:cNvPr id="7" name="TextBox 7"/>
          <p:cNvSpPr txBox="1"/>
          <p:nvPr/>
        </p:nvSpPr>
        <p:spPr>
          <a:xfrm>
            <a:off x="1028700" y="6830792"/>
            <a:ext cx="16140172" cy="1672590"/>
          </a:xfrm>
          <a:prstGeom prst="rect">
            <a:avLst/>
          </a:prstGeom>
        </p:spPr>
        <p:txBody>
          <a:bodyPr lIns="0" tIns="0" rIns="0" bIns="0" rtlCol="0" anchor="t">
            <a:spAutoFit/>
          </a:bodyPr>
          <a:lstStyle/>
          <a:p>
            <a:pPr marL="0" lvl="0" indent="0" algn="l">
              <a:lnSpc>
                <a:spcPts val="3359"/>
              </a:lnSpc>
              <a:spcBef>
                <a:spcPct val="0"/>
              </a:spcBef>
            </a:pPr>
            <a:r>
              <a:rPr lang="en-US" sz="2400">
                <a:solidFill>
                  <a:srgbClr val="000000"/>
                </a:solidFill>
                <a:latin typeface="Raleway 1"/>
                <a:ea typeface="Raleway 1"/>
                <a:cs typeface="Raleway 1"/>
                <a:sym typeface="Raleway 1"/>
              </a:rPr>
              <a:t>From the</a:t>
            </a:r>
            <a:r>
              <a:rPr lang="en-US" sz="2400" u="none" strike="noStrike">
                <a:solidFill>
                  <a:srgbClr val="000000"/>
                </a:solidFill>
                <a:latin typeface="Raleway 1"/>
                <a:ea typeface="Raleway 1"/>
                <a:cs typeface="Raleway 1"/>
                <a:sym typeface="Raleway 1"/>
              </a:rPr>
              <a:t> analysis, we observe that product demand is evenly spread across categories and regions. There are no significant demand spikes or shortages in any specific area. This indicates a stable supply chain structure. Minor optimizations in high-performing categories and regions can further improve efficiency.</a:t>
            </a:r>
          </a:p>
          <a:p>
            <a:pPr marL="0" lvl="0" indent="0" algn="l">
              <a:lnSpc>
                <a:spcPts val="3359"/>
              </a:lnSpc>
              <a:spcBef>
                <a:spcPct val="0"/>
              </a:spcBef>
            </a:pPr>
            <a:endParaRPr lang="en-US" sz="2400" u="none" strike="noStrike">
              <a:solidFill>
                <a:srgbClr val="000000"/>
              </a:solidFill>
              <a:latin typeface="Raleway 1"/>
              <a:ea typeface="Raleway 1"/>
              <a:cs typeface="Raleway 1"/>
              <a:sym typeface="Raleway 1"/>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9348378" y="1514072"/>
            <a:ext cx="7910922" cy="7258855"/>
          </a:xfrm>
          <a:custGeom>
            <a:avLst/>
            <a:gdLst/>
            <a:ahLst/>
            <a:cxnLst/>
            <a:rect l="l" t="t" r="r" b="b"/>
            <a:pathLst>
              <a:path w="7910922" h="7258855">
                <a:moveTo>
                  <a:pt x="0" y="0"/>
                </a:moveTo>
                <a:lnTo>
                  <a:pt x="7910922" y="0"/>
                </a:lnTo>
                <a:lnTo>
                  <a:pt x="7910922" y="7258856"/>
                </a:lnTo>
                <a:lnTo>
                  <a:pt x="0" y="7258856"/>
                </a:lnTo>
                <a:lnTo>
                  <a:pt x="0" y="0"/>
                </a:lnTo>
                <a:close/>
              </a:path>
            </a:pathLst>
          </a:custGeom>
          <a:blipFill>
            <a:blip r:embed="rId2"/>
            <a:stretch>
              <a:fillRect/>
            </a:stretch>
          </a:blipFill>
        </p:spPr>
      </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10</a:t>
            </a:r>
          </a:p>
        </p:txBody>
      </p:sp>
      <p:sp>
        <p:nvSpPr>
          <p:cNvPr id="6" name="TextBox 6"/>
          <p:cNvSpPr txBox="1"/>
          <p:nvPr/>
        </p:nvSpPr>
        <p:spPr>
          <a:xfrm>
            <a:off x="882103" y="570548"/>
            <a:ext cx="6919931" cy="821055"/>
          </a:xfrm>
          <a:prstGeom prst="rect">
            <a:avLst/>
          </a:prstGeom>
        </p:spPr>
        <p:txBody>
          <a:bodyPr lIns="0" tIns="0" rIns="0" bIns="0" rtlCol="0" anchor="t">
            <a:spAutoFit/>
          </a:bodyPr>
          <a:lstStyle/>
          <a:p>
            <a:pPr algn="l">
              <a:lnSpc>
                <a:spcPts val="6719"/>
              </a:lnSpc>
            </a:pPr>
            <a:r>
              <a:rPr lang="en-US" sz="4800">
                <a:solidFill>
                  <a:srgbClr val="344E41"/>
                </a:solidFill>
                <a:latin typeface="Prata"/>
                <a:ea typeface="Prata"/>
                <a:cs typeface="Prata"/>
                <a:sym typeface="Prata"/>
              </a:rPr>
              <a:t>ANALYTICS</a:t>
            </a:r>
          </a:p>
        </p:txBody>
      </p:sp>
      <p:sp>
        <p:nvSpPr>
          <p:cNvPr id="7" name="TextBox 7"/>
          <p:cNvSpPr txBox="1"/>
          <p:nvPr/>
        </p:nvSpPr>
        <p:spPr>
          <a:xfrm>
            <a:off x="882103" y="2771775"/>
            <a:ext cx="7571680" cy="4657725"/>
          </a:xfrm>
          <a:prstGeom prst="rect">
            <a:avLst/>
          </a:prstGeom>
        </p:spPr>
        <p:txBody>
          <a:bodyPr lIns="0" tIns="0" rIns="0" bIns="0" rtlCol="0" anchor="t">
            <a:spAutoFit/>
          </a:bodyPr>
          <a:lstStyle/>
          <a:p>
            <a:pPr algn="just">
              <a:lnSpc>
                <a:spcPts val="3749"/>
              </a:lnSpc>
            </a:pPr>
            <a:r>
              <a:rPr lang="en-US" sz="2499">
                <a:solidFill>
                  <a:srgbClr val="000000"/>
                </a:solidFill>
                <a:latin typeface="Raleway 1"/>
                <a:ea typeface="Raleway 1"/>
                <a:cs typeface="Raleway 1"/>
                <a:sym typeface="Raleway 1"/>
              </a:rPr>
              <a:t>Key Observations</a:t>
            </a:r>
          </a:p>
          <a:p>
            <a:pPr marL="539748" lvl="1" indent="-269874" algn="just">
              <a:lnSpc>
                <a:spcPts val="3749"/>
              </a:lnSpc>
              <a:buFont typeface="Arial"/>
              <a:buChar char="•"/>
            </a:pPr>
            <a:r>
              <a:rPr lang="en-US" sz="2499">
                <a:solidFill>
                  <a:srgbClr val="000000"/>
                </a:solidFill>
                <a:latin typeface="Raleway 1"/>
                <a:ea typeface="Raleway 1"/>
                <a:cs typeface="Raleway 1"/>
                <a:sym typeface="Raleway 1"/>
              </a:rPr>
              <a:t>Taking into consideration of external forces</a:t>
            </a:r>
          </a:p>
          <a:p>
            <a:pPr marL="539748" lvl="1" indent="-269874" algn="just">
              <a:lnSpc>
                <a:spcPts val="3749"/>
              </a:lnSpc>
              <a:buFont typeface="Arial"/>
              <a:buChar char="•"/>
            </a:pPr>
            <a:r>
              <a:rPr lang="en-US" sz="2499">
                <a:solidFill>
                  <a:srgbClr val="000000"/>
                </a:solidFill>
                <a:latin typeface="Raleway 1"/>
                <a:ea typeface="Raleway 1"/>
                <a:cs typeface="Raleway 1"/>
                <a:sym typeface="Raleway 1"/>
              </a:rPr>
              <a:t>Demand is highest during Sunny weather conditions.</a:t>
            </a:r>
          </a:p>
          <a:p>
            <a:pPr marL="539748" lvl="1" indent="-269874" algn="just">
              <a:lnSpc>
                <a:spcPts val="3749"/>
              </a:lnSpc>
              <a:buFont typeface="Arial"/>
              <a:buChar char="•"/>
            </a:pPr>
            <a:r>
              <a:rPr lang="en-US" sz="2499">
                <a:solidFill>
                  <a:srgbClr val="000000"/>
                </a:solidFill>
                <a:latin typeface="Raleway 1"/>
                <a:ea typeface="Raleway 1"/>
                <a:cs typeface="Raleway 1"/>
                <a:sym typeface="Raleway 1"/>
              </a:rPr>
              <a:t>Demand further drops during Snowy conditions.</a:t>
            </a:r>
          </a:p>
          <a:p>
            <a:pPr marL="539748" lvl="1" indent="-269874" algn="just">
              <a:lnSpc>
                <a:spcPts val="3749"/>
              </a:lnSpc>
              <a:buFont typeface="Arial"/>
              <a:buChar char="•"/>
            </a:pPr>
            <a:r>
              <a:rPr lang="en-US" sz="2499">
                <a:solidFill>
                  <a:srgbClr val="000000"/>
                </a:solidFill>
                <a:latin typeface="Raleway 1"/>
                <a:ea typeface="Raleway 1"/>
                <a:cs typeface="Raleway 1"/>
                <a:sym typeface="Raleway 1"/>
              </a:rPr>
              <a:t>Rainy weather shows the lowest demand among all conditions.</a:t>
            </a:r>
          </a:p>
          <a:p>
            <a:pPr algn="just">
              <a:lnSpc>
                <a:spcPts val="3749"/>
              </a:lnSpc>
            </a:pPr>
            <a:r>
              <a:rPr lang="en-US" sz="2499">
                <a:solidFill>
                  <a:srgbClr val="000000"/>
                </a:solidFill>
                <a:latin typeface="Raleway 1"/>
                <a:ea typeface="Raleway 1"/>
                <a:cs typeface="Raleway 1"/>
                <a:sym typeface="Raleway 1"/>
              </a:rPr>
              <a:t>This indicates a negative trend in demand as weather conditions become less favorable.</a:t>
            </a:r>
          </a:p>
          <a:p>
            <a:pPr algn="just">
              <a:lnSpc>
                <a:spcPts val="3749"/>
              </a:lnSpc>
            </a:pPr>
            <a:endParaRPr lang="en-US" sz="2499">
              <a:solidFill>
                <a:srgbClr val="000000"/>
              </a:solidFill>
              <a:latin typeface="Raleway 1"/>
              <a:ea typeface="Raleway 1"/>
              <a:cs typeface="Raleway 1"/>
              <a:sym typeface="Raleway 1"/>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1551544" y="1366852"/>
            <a:ext cx="14705064" cy="7738540"/>
          </a:xfrm>
          <a:custGeom>
            <a:avLst/>
            <a:gdLst/>
            <a:ahLst/>
            <a:cxnLst/>
            <a:rect l="l" t="t" r="r" b="b"/>
            <a:pathLst>
              <a:path w="14705064" h="7738540">
                <a:moveTo>
                  <a:pt x="0" y="0"/>
                </a:moveTo>
                <a:lnTo>
                  <a:pt x="14705063" y="0"/>
                </a:lnTo>
                <a:lnTo>
                  <a:pt x="14705063" y="7738539"/>
                </a:lnTo>
                <a:lnTo>
                  <a:pt x="0" y="7738539"/>
                </a:lnTo>
                <a:lnTo>
                  <a:pt x="0" y="0"/>
                </a:lnTo>
                <a:close/>
              </a:path>
            </a:pathLst>
          </a:custGeom>
          <a:blipFill>
            <a:blip r:embed="rId2"/>
            <a:stretch>
              <a:fillRect/>
            </a:stretch>
          </a:blipFill>
        </p:spPr>
      </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11</a:t>
            </a:r>
          </a:p>
        </p:txBody>
      </p:sp>
      <p:sp>
        <p:nvSpPr>
          <p:cNvPr id="6" name="TextBox 6"/>
          <p:cNvSpPr txBox="1"/>
          <p:nvPr/>
        </p:nvSpPr>
        <p:spPr>
          <a:xfrm>
            <a:off x="803232" y="460570"/>
            <a:ext cx="12329484" cy="753024"/>
          </a:xfrm>
          <a:prstGeom prst="rect">
            <a:avLst/>
          </a:prstGeom>
        </p:spPr>
        <p:txBody>
          <a:bodyPr lIns="0" tIns="0" rIns="0" bIns="0" rtlCol="0" anchor="t">
            <a:spAutoFit/>
          </a:bodyPr>
          <a:lstStyle/>
          <a:p>
            <a:pPr algn="l">
              <a:lnSpc>
                <a:spcPts val="6269"/>
              </a:lnSpc>
            </a:pPr>
            <a:r>
              <a:rPr lang="en-US" sz="4478">
                <a:solidFill>
                  <a:srgbClr val="344E41"/>
                </a:solidFill>
                <a:latin typeface="Prata"/>
                <a:ea typeface="Prata"/>
                <a:cs typeface="Prata"/>
                <a:sym typeface="Prata"/>
              </a:rPr>
              <a:t>MACHINE LEARNING / TIME SERIES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TextBox 4"/>
          <p:cNvSpPr txBox="1"/>
          <p:nvPr/>
        </p:nvSpPr>
        <p:spPr>
          <a:xfrm>
            <a:off x="1028700" y="933450"/>
            <a:ext cx="9709568" cy="821055"/>
          </a:xfrm>
          <a:prstGeom prst="rect">
            <a:avLst/>
          </a:prstGeom>
        </p:spPr>
        <p:txBody>
          <a:bodyPr lIns="0" tIns="0" rIns="0" bIns="0" rtlCol="0" anchor="t">
            <a:spAutoFit/>
          </a:bodyPr>
          <a:lstStyle/>
          <a:p>
            <a:pPr algn="l">
              <a:lnSpc>
                <a:spcPts val="6719"/>
              </a:lnSpc>
            </a:pPr>
            <a:r>
              <a:rPr lang="en-US" sz="4800">
                <a:solidFill>
                  <a:srgbClr val="344E41"/>
                </a:solidFill>
                <a:latin typeface="Prata"/>
                <a:ea typeface="Prata"/>
                <a:cs typeface="Prata"/>
                <a:sym typeface="Prata"/>
              </a:rPr>
              <a:t>MODEL SELECTION</a:t>
            </a:r>
          </a:p>
        </p:txBody>
      </p:sp>
      <p:sp>
        <p:nvSpPr>
          <p:cNvPr id="5" name="TextBox 5"/>
          <p:cNvSpPr txBox="1"/>
          <p:nvPr/>
        </p:nvSpPr>
        <p:spPr>
          <a:xfrm>
            <a:off x="889695" y="2204085"/>
            <a:ext cx="15985136" cy="2322195"/>
          </a:xfrm>
          <a:prstGeom prst="rect">
            <a:avLst/>
          </a:prstGeom>
        </p:spPr>
        <p:txBody>
          <a:bodyPr lIns="0" tIns="0" rIns="0" bIns="0" rtlCol="0" anchor="t">
            <a:spAutoFit/>
          </a:bodyPr>
          <a:lstStyle/>
          <a:p>
            <a:pPr algn="l">
              <a:lnSpc>
                <a:spcPts val="3919"/>
              </a:lnSpc>
            </a:pPr>
            <a:r>
              <a:rPr lang="en-US" sz="2799" b="1">
                <a:solidFill>
                  <a:srgbClr val="000000"/>
                </a:solidFill>
                <a:latin typeface="Raleway 1 Bold"/>
                <a:ea typeface="Raleway 1 Bold"/>
                <a:cs typeface="Raleway 1 Bold"/>
                <a:sym typeface="Raleway 1 Bold"/>
              </a:rPr>
              <a:t>Chosen Algorithm: </a:t>
            </a:r>
            <a:r>
              <a:rPr lang="en-US" sz="2799">
                <a:solidFill>
                  <a:srgbClr val="000000"/>
                </a:solidFill>
                <a:latin typeface="Raleway 1"/>
                <a:ea typeface="Raleway 1"/>
                <a:cs typeface="Raleway 1"/>
                <a:sym typeface="Raleway 1"/>
              </a:rPr>
              <a:t>Random Forest Regressor</a:t>
            </a:r>
          </a:p>
          <a:p>
            <a:pPr algn="l">
              <a:lnSpc>
                <a:spcPts val="3640"/>
              </a:lnSpc>
            </a:pPr>
            <a:r>
              <a:rPr lang="en-US" sz="2600">
                <a:solidFill>
                  <a:srgbClr val="000000"/>
                </a:solidFill>
                <a:latin typeface="Raleway 1"/>
                <a:ea typeface="Raleway 1"/>
                <a:cs typeface="Raleway 1"/>
                <a:sym typeface="Raleway 1"/>
              </a:rPr>
              <a:t>For this project, we selected the Random Forest Regressor algorithm to build our prediction model. Random Forest Regressor is an Machine learning algorithm used to predict continuous numeric values and builds many decision trees and takes the average of their predictions to produce the final output.</a:t>
            </a:r>
          </a:p>
          <a:p>
            <a:pPr algn="l">
              <a:lnSpc>
                <a:spcPts val="3640"/>
              </a:lnSpc>
            </a:pPr>
            <a:endParaRPr lang="en-US" sz="2600">
              <a:solidFill>
                <a:srgbClr val="000000"/>
              </a:solidFill>
              <a:latin typeface="Raleway 1"/>
              <a:ea typeface="Raleway 1"/>
              <a:cs typeface="Raleway 1"/>
              <a:sym typeface="Raleway 1"/>
            </a:endParaRPr>
          </a:p>
        </p:txBody>
      </p:sp>
      <p:sp>
        <p:nvSpPr>
          <p:cNvPr id="6" name="TextBox 6"/>
          <p:cNvSpPr txBox="1"/>
          <p:nvPr/>
        </p:nvSpPr>
        <p:spPr>
          <a:xfrm>
            <a:off x="889695" y="4404995"/>
            <a:ext cx="15985136" cy="1992630"/>
          </a:xfrm>
          <a:prstGeom prst="rect">
            <a:avLst/>
          </a:prstGeom>
        </p:spPr>
        <p:txBody>
          <a:bodyPr lIns="0" tIns="0" rIns="0" bIns="0" rtlCol="0" anchor="t">
            <a:spAutoFit/>
          </a:bodyPr>
          <a:lstStyle/>
          <a:p>
            <a:pPr algn="just">
              <a:lnSpc>
                <a:spcPts val="4199"/>
              </a:lnSpc>
            </a:pPr>
            <a:r>
              <a:rPr lang="en-US" sz="2799" b="1">
                <a:solidFill>
                  <a:srgbClr val="000000"/>
                </a:solidFill>
                <a:latin typeface="Raleway 1 Bold"/>
                <a:ea typeface="Raleway 1 Bold"/>
                <a:cs typeface="Raleway 1 Bold"/>
                <a:sym typeface="Raleway 1 Bold"/>
              </a:rPr>
              <a:t>Relevance to Supply Chain Optimization</a:t>
            </a:r>
          </a:p>
          <a:p>
            <a:pPr algn="just">
              <a:lnSpc>
                <a:spcPts val="3900"/>
              </a:lnSpc>
            </a:pPr>
            <a:r>
              <a:rPr lang="en-US" sz="2600">
                <a:solidFill>
                  <a:srgbClr val="000000"/>
                </a:solidFill>
                <a:latin typeface="Raleway 1"/>
                <a:ea typeface="Raleway 1"/>
                <a:cs typeface="Raleway 1"/>
                <a:sym typeface="Raleway 1"/>
              </a:rPr>
              <a:t>Random Forest Regressor helps in accurately predicts continuous variables such as demand, lead time and cost by handling complex and non linear relationships in supply chain data.This helps in improving inventory planning, cost control and overall operational efficiency.</a:t>
            </a:r>
          </a:p>
        </p:txBody>
      </p:sp>
      <p:sp>
        <p:nvSpPr>
          <p:cNvPr id="7" name="TextBox 7"/>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12</a:t>
            </a:r>
          </a:p>
        </p:txBody>
      </p:sp>
      <p:sp>
        <p:nvSpPr>
          <p:cNvPr id="8" name="TextBox 8"/>
          <p:cNvSpPr txBox="1"/>
          <p:nvPr/>
        </p:nvSpPr>
        <p:spPr>
          <a:xfrm>
            <a:off x="889695" y="6835775"/>
            <a:ext cx="17398305" cy="1380490"/>
          </a:xfrm>
          <a:prstGeom prst="rect">
            <a:avLst/>
          </a:prstGeom>
        </p:spPr>
        <p:txBody>
          <a:bodyPr lIns="0" tIns="0" rIns="0" bIns="0" rtlCol="0" anchor="t">
            <a:spAutoFit/>
          </a:bodyPr>
          <a:lstStyle/>
          <a:p>
            <a:pPr algn="l">
              <a:lnSpc>
                <a:spcPts val="3779"/>
              </a:lnSpc>
              <a:spcBef>
                <a:spcPct val="0"/>
              </a:spcBef>
            </a:pPr>
            <a:r>
              <a:rPr lang="en-US" sz="2699" b="1">
                <a:solidFill>
                  <a:srgbClr val="000000"/>
                </a:solidFill>
                <a:latin typeface="Raleway 1 Bold"/>
                <a:ea typeface="Raleway 1 Bold"/>
                <a:cs typeface="Raleway 1 Bold"/>
                <a:sym typeface="Raleway 1 Bold"/>
              </a:rPr>
              <a:t>Role in Supply Chain Optimization</a:t>
            </a:r>
          </a:p>
          <a:p>
            <a:pPr algn="l">
              <a:lnSpc>
                <a:spcPts val="3639"/>
              </a:lnSpc>
              <a:spcBef>
                <a:spcPct val="0"/>
              </a:spcBef>
            </a:pPr>
            <a:r>
              <a:rPr lang="en-US" sz="2599">
                <a:solidFill>
                  <a:srgbClr val="000000"/>
                </a:solidFill>
                <a:latin typeface="Raleway 1"/>
                <a:ea typeface="Raleway 1"/>
                <a:cs typeface="Raleway 1"/>
                <a:sym typeface="Raleway 1"/>
              </a:rPr>
              <a:t> By using Random Forest Regressor, we can predict product demand more precisely, which helps reduce stockouts, avoid overstocking, and improve overall supply chain efficiency.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2345555" y="2037701"/>
            <a:ext cx="13799190" cy="6838808"/>
          </a:xfrm>
          <a:custGeom>
            <a:avLst/>
            <a:gdLst/>
            <a:ahLst/>
            <a:cxnLst/>
            <a:rect l="l" t="t" r="r" b="b"/>
            <a:pathLst>
              <a:path w="13799190" h="6838808">
                <a:moveTo>
                  <a:pt x="0" y="0"/>
                </a:moveTo>
                <a:lnTo>
                  <a:pt x="13799190" y="0"/>
                </a:lnTo>
                <a:lnTo>
                  <a:pt x="13799190" y="6838808"/>
                </a:lnTo>
                <a:lnTo>
                  <a:pt x="0" y="6838808"/>
                </a:lnTo>
                <a:lnTo>
                  <a:pt x="0" y="0"/>
                </a:lnTo>
                <a:close/>
              </a:path>
            </a:pathLst>
          </a:custGeom>
          <a:blipFill>
            <a:blip r:embed="rId2"/>
            <a:stretch>
              <a:fillRect l="-4157" t="-12050" r="-2633"/>
            </a:stretch>
          </a:blipFill>
        </p:spPr>
      </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13</a:t>
            </a:r>
          </a:p>
        </p:txBody>
      </p:sp>
      <p:sp>
        <p:nvSpPr>
          <p:cNvPr id="6" name="TextBox 6"/>
          <p:cNvSpPr txBox="1"/>
          <p:nvPr/>
        </p:nvSpPr>
        <p:spPr>
          <a:xfrm>
            <a:off x="803232" y="460570"/>
            <a:ext cx="12329484" cy="753024"/>
          </a:xfrm>
          <a:prstGeom prst="rect">
            <a:avLst/>
          </a:prstGeom>
        </p:spPr>
        <p:txBody>
          <a:bodyPr lIns="0" tIns="0" rIns="0" bIns="0" rtlCol="0" anchor="t">
            <a:spAutoFit/>
          </a:bodyPr>
          <a:lstStyle/>
          <a:p>
            <a:pPr algn="l">
              <a:lnSpc>
                <a:spcPts val="6269"/>
              </a:lnSpc>
            </a:pPr>
            <a:r>
              <a:rPr lang="en-US" sz="4478">
                <a:solidFill>
                  <a:srgbClr val="344E41"/>
                </a:solidFill>
                <a:latin typeface="Prata"/>
                <a:ea typeface="Prata"/>
                <a:cs typeface="Prata"/>
                <a:sym typeface="Prata"/>
              </a:rPr>
              <a:t>MODEL TRAINING</a:t>
            </a:r>
          </a:p>
        </p:txBody>
      </p:sp>
      <p:sp>
        <p:nvSpPr>
          <p:cNvPr id="7" name="TextBox 7"/>
          <p:cNvSpPr txBox="1"/>
          <p:nvPr/>
        </p:nvSpPr>
        <p:spPr>
          <a:xfrm>
            <a:off x="13734135" y="171069"/>
            <a:ext cx="4326219" cy="1042875"/>
          </a:xfrm>
          <a:prstGeom prst="rect">
            <a:avLst/>
          </a:prstGeom>
        </p:spPr>
        <p:txBody>
          <a:bodyPr lIns="0" tIns="0" rIns="0" bIns="0" rtlCol="0" anchor="t">
            <a:spAutoFit/>
          </a:bodyPr>
          <a:lstStyle/>
          <a:p>
            <a:pPr algn="ctr">
              <a:lnSpc>
                <a:spcPts val="4195"/>
              </a:lnSpc>
            </a:pPr>
            <a:r>
              <a:rPr lang="en-US" sz="2997">
                <a:solidFill>
                  <a:srgbClr val="344E41"/>
                </a:solidFill>
                <a:latin typeface="Raleway 2"/>
                <a:ea typeface="Raleway 2"/>
                <a:cs typeface="Raleway 2"/>
                <a:sym typeface="Raleway 2"/>
              </a:rPr>
              <a:t>RMSE SCORE:8.6111</a:t>
            </a:r>
          </a:p>
          <a:p>
            <a:pPr algn="ctr">
              <a:lnSpc>
                <a:spcPts val="4195"/>
              </a:lnSpc>
            </a:pPr>
            <a:r>
              <a:rPr lang="en-US" sz="2997">
                <a:solidFill>
                  <a:srgbClr val="344E41"/>
                </a:solidFill>
                <a:latin typeface="Raleway 2"/>
                <a:ea typeface="Raleway 2"/>
                <a:cs typeface="Raleway 2"/>
                <a:sym typeface="Raleway 2"/>
              </a:rPr>
              <a:t>R2 SCORE:0.9937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3134069" y="4619096"/>
            <a:ext cx="12019862" cy="4430981"/>
          </a:xfrm>
          <a:custGeom>
            <a:avLst/>
            <a:gdLst/>
            <a:ahLst/>
            <a:cxnLst/>
            <a:rect l="l" t="t" r="r" b="b"/>
            <a:pathLst>
              <a:path w="12019862" h="4430981">
                <a:moveTo>
                  <a:pt x="0" y="0"/>
                </a:moveTo>
                <a:lnTo>
                  <a:pt x="12019862" y="0"/>
                </a:lnTo>
                <a:lnTo>
                  <a:pt x="12019862" y="4430981"/>
                </a:lnTo>
                <a:lnTo>
                  <a:pt x="0" y="4430981"/>
                </a:lnTo>
                <a:lnTo>
                  <a:pt x="0" y="0"/>
                </a:lnTo>
                <a:close/>
              </a:path>
            </a:pathLst>
          </a:custGeom>
          <a:blipFill>
            <a:blip r:embed="rId2"/>
            <a:stretch>
              <a:fillRect/>
            </a:stretch>
          </a:blipFill>
        </p:spPr>
      </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14</a:t>
            </a:r>
          </a:p>
        </p:txBody>
      </p:sp>
      <p:sp>
        <p:nvSpPr>
          <p:cNvPr id="6" name="TextBox 6"/>
          <p:cNvSpPr txBox="1"/>
          <p:nvPr/>
        </p:nvSpPr>
        <p:spPr>
          <a:xfrm>
            <a:off x="1028700" y="576268"/>
            <a:ext cx="6919931" cy="821055"/>
          </a:xfrm>
          <a:prstGeom prst="rect">
            <a:avLst/>
          </a:prstGeom>
        </p:spPr>
        <p:txBody>
          <a:bodyPr lIns="0" tIns="0" rIns="0" bIns="0" rtlCol="0" anchor="t">
            <a:spAutoFit/>
          </a:bodyPr>
          <a:lstStyle/>
          <a:p>
            <a:pPr algn="l">
              <a:lnSpc>
                <a:spcPts val="6719"/>
              </a:lnSpc>
            </a:pPr>
            <a:r>
              <a:rPr lang="en-US" sz="4800">
                <a:solidFill>
                  <a:srgbClr val="344E41"/>
                </a:solidFill>
                <a:latin typeface="Prata"/>
                <a:ea typeface="Prata"/>
                <a:cs typeface="Prata"/>
                <a:sym typeface="Prata"/>
              </a:rPr>
              <a:t>OPTIMIZATION</a:t>
            </a:r>
          </a:p>
        </p:txBody>
      </p:sp>
      <p:sp>
        <p:nvSpPr>
          <p:cNvPr id="7" name="TextBox 7"/>
          <p:cNvSpPr txBox="1"/>
          <p:nvPr/>
        </p:nvSpPr>
        <p:spPr>
          <a:xfrm>
            <a:off x="857744" y="952500"/>
            <a:ext cx="16242816" cy="3863806"/>
          </a:xfrm>
          <a:prstGeom prst="rect">
            <a:avLst/>
          </a:prstGeom>
        </p:spPr>
        <p:txBody>
          <a:bodyPr lIns="0" tIns="0" rIns="0" bIns="0" rtlCol="0" anchor="t">
            <a:spAutoFit/>
          </a:bodyPr>
          <a:lstStyle/>
          <a:p>
            <a:pPr algn="just">
              <a:lnSpc>
                <a:spcPts val="3881"/>
              </a:lnSpc>
            </a:pPr>
            <a:endParaRPr/>
          </a:p>
          <a:p>
            <a:pPr marL="558700" lvl="1" indent="-279350" algn="just">
              <a:lnSpc>
                <a:spcPts val="3881"/>
              </a:lnSpc>
              <a:buFont typeface="Arial"/>
              <a:buChar char="•"/>
            </a:pPr>
            <a:r>
              <a:rPr lang="en-US" sz="2587">
                <a:solidFill>
                  <a:srgbClr val="000000"/>
                </a:solidFill>
                <a:latin typeface="Raleway 1"/>
                <a:ea typeface="Raleway 1"/>
                <a:cs typeface="Raleway 1"/>
                <a:sym typeface="Raleway 1"/>
              </a:rPr>
              <a:t>Inventory Level represents the current quantity of products available in the store.</a:t>
            </a:r>
          </a:p>
          <a:p>
            <a:pPr marL="558700" lvl="1" indent="-279350" algn="just">
              <a:lnSpc>
                <a:spcPts val="3881"/>
              </a:lnSpc>
              <a:buFont typeface="Arial"/>
              <a:buChar char="•"/>
            </a:pPr>
            <a:r>
              <a:rPr lang="en-US" sz="2587">
                <a:solidFill>
                  <a:srgbClr val="000000"/>
                </a:solidFill>
                <a:latin typeface="Raleway 1"/>
                <a:ea typeface="Raleway 1"/>
                <a:cs typeface="Raleway 1"/>
                <a:sym typeface="Raleway 1"/>
              </a:rPr>
              <a:t>Demand Forecast shows the aggregated mean demand forecast.</a:t>
            </a:r>
          </a:p>
          <a:p>
            <a:pPr marL="558700" lvl="1" indent="-279350" algn="just">
              <a:lnSpc>
                <a:spcPts val="3881"/>
              </a:lnSpc>
              <a:buFont typeface="Arial"/>
              <a:buChar char="•"/>
            </a:pPr>
            <a:r>
              <a:rPr lang="en-US" sz="2587">
                <a:solidFill>
                  <a:srgbClr val="000000"/>
                </a:solidFill>
                <a:latin typeface="Raleway 1"/>
                <a:ea typeface="Raleway 1"/>
                <a:cs typeface="Raleway 1"/>
                <a:sym typeface="Raleway 1"/>
              </a:rPr>
              <a:t>Stock_Sufficient is a logical indicator (True/False) that shows whether the current inventory can meet forecasted demand.</a:t>
            </a:r>
          </a:p>
          <a:p>
            <a:pPr marL="558700" lvl="1" indent="-279350" algn="just">
              <a:lnSpc>
                <a:spcPts val="3881"/>
              </a:lnSpc>
              <a:buFont typeface="Arial"/>
              <a:buChar char="•"/>
            </a:pPr>
            <a:r>
              <a:rPr lang="en-US" sz="2587">
                <a:solidFill>
                  <a:srgbClr val="000000"/>
                </a:solidFill>
                <a:latin typeface="Raleway 1"/>
                <a:ea typeface="Raleway 1"/>
                <a:cs typeface="Raleway 1"/>
                <a:sym typeface="Raleway 1"/>
              </a:rPr>
              <a:t>Shortage_Qty calculates the additional quantity required when inventory is lower than predicted demand.</a:t>
            </a:r>
          </a:p>
          <a:p>
            <a:pPr algn="just">
              <a:lnSpc>
                <a:spcPts val="3881"/>
              </a:lnSpc>
            </a:pPr>
            <a:endParaRPr lang="en-US" sz="2587">
              <a:solidFill>
                <a:srgbClr val="000000"/>
              </a:solidFill>
              <a:latin typeface="Raleway 1"/>
              <a:ea typeface="Raleway 1"/>
              <a:cs typeface="Raleway 1"/>
              <a:sym typeface="Raleway 1"/>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1893845" y="1437732"/>
            <a:ext cx="15164268" cy="7411536"/>
          </a:xfrm>
          <a:custGeom>
            <a:avLst/>
            <a:gdLst/>
            <a:ahLst/>
            <a:cxnLst/>
            <a:rect l="l" t="t" r="r" b="b"/>
            <a:pathLst>
              <a:path w="15164268" h="7411536">
                <a:moveTo>
                  <a:pt x="0" y="0"/>
                </a:moveTo>
                <a:lnTo>
                  <a:pt x="15164268" y="0"/>
                </a:lnTo>
                <a:lnTo>
                  <a:pt x="15164268" y="7411536"/>
                </a:lnTo>
                <a:lnTo>
                  <a:pt x="0" y="7411536"/>
                </a:lnTo>
                <a:lnTo>
                  <a:pt x="0" y="0"/>
                </a:lnTo>
                <a:close/>
              </a:path>
            </a:pathLst>
          </a:custGeom>
          <a:blipFill>
            <a:blip r:embed="rId2"/>
            <a:stretch>
              <a:fillRect/>
            </a:stretch>
          </a:blipFill>
        </p:spPr>
      </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15</a:t>
            </a:r>
          </a:p>
        </p:txBody>
      </p:sp>
      <p:sp>
        <p:nvSpPr>
          <p:cNvPr id="6" name="TextBox 6"/>
          <p:cNvSpPr txBox="1"/>
          <p:nvPr/>
        </p:nvSpPr>
        <p:spPr>
          <a:xfrm>
            <a:off x="803232" y="441520"/>
            <a:ext cx="12675585" cy="787931"/>
          </a:xfrm>
          <a:prstGeom prst="rect">
            <a:avLst/>
          </a:prstGeom>
        </p:spPr>
        <p:txBody>
          <a:bodyPr lIns="0" tIns="0" rIns="0" bIns="0" rtlCol="0" anchor="t">
            <a:spAutoFit/>
          </a:bodyPr>
          <a:lstStyle/>
          <a:p>
            <a:pPr algn="l">
              <a:lnSpc>
                <a:spcPts val="6445"/>
              </a:lnSpc>
            </a:pPr>
            <a:r>
              <a:rPr lang="en-US" sz="4604">
                <a:solidFill>
                  <a:srgbClr val="344E41"/>
                </a:solidFill>
                <a:latin typeface="Prata"/>
                <a:ea typeface="Prata"/>
                <a:cs typeface="Prata"/>
                <a:sym typeface="Prata"/>
              </a:rPr>
              <a:t>OPTIMIZATION &amp; VISUALIZATION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1659180" y="1419790"/>
            <a:ext cx="15160141" cy="7447419"/>
          </a:xfrm>
          <a:custGeom>
            <a:avLst/>
            <a:gdLst/>
            <a:ahLst/>
            <a:cxnLst/>
            <a:rect l="l" t="t" r="r" b="b"/>
            <a:pathLst>
              <a:path w="15160141" h="7447419">
                <a:moveTo>
                  <a:pt x="0" y="0"/>
                </a:moveTo>
                <a:lnTo>
                  <a:pt x="15160140" y="0"/>
                </a:lnTo>
                <a:lnTo>
                  <a:pt x="15160140" y="7447420"/>
                </a:lnTo>
                <a:lnTo>
                  <a:pt x="0" y="7447420"/>
                </a:lnTo>
                <a:lnTo>
                  <a:pt x="0" y="0"/>
                </a:lnTo>
                <a:close/>
              </a:path>
            </a:pathLst>
          </a:custGeom>
          <a:blipFill>
            <a:blip r:embed="rId2"/>
            <a:stretch>
              <a:fillRect/>
            </a:stretch>
          </a:blipFill>
        </p:spPr>
      </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16</a:t>
            </a:r>
          </a:p>
        </p:txBody>
      </p:sp>
      <p:sp>
        <p:nvSpPr>
          <p:cNvPr id="6" name="TextBox 6"/>
          <p:cNvSpPr txBox="1"/>
          <p:nvPr/>
        </p:nvSpPr>
        <p:spPr>
          <a:xfrm>
            <a:off x="803232" y="441520"/>
            <a:ext cx="12675585" cy="787931"/>
          </a:xfrm>
          <a:prstGeom prst="rect">
            <a:avLst/>
          </a:prstGeom>
        </p:spPr>
        <p:txBody>
          <a:bodyPr lIns="0" tIns="0" rIns="0" bIns="0" rtlCol="0" anchor="t">
            <a:spAutoFit/>
          </a:bodyPr>
          <a:lstStyle/>
          <a:p>
            <a:pPr algn="l">
              <a:lnSpc>
                <a:spcPts val="6445"/>
              </a:lnSpc>
            </a:pPr>
            <a:r>
              <a:rPr lang="en-US" sz="4604">
                <a:solidFill>
                  <a:srgbClr val="344E41"/>
                </a:solidFill>
                <a:latin typeface="Prata"/>
                <a:ea typeface="Prata"/>
                <a:cs typeface="Prata"/>
                <a:sym typeface="Prata"/>
              </a:rPr>
              <a:t>OPTIMIZATION &amp; VISUALIZATION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Freeform 4"/>
          <p:cNvSpPr/>
          <p:nvPr/>
        </p:nvSpPr>
        <p:spPr>
          <a:xfrm>
            <a:off x="1830369" y="1458691"/>
            <a:ext cx="15182416" cy="7515296"/>
          </a:xfrm>
          <a:custGeom>
            <a:avLst/>
            <a:gdLst/>
            <a:ahLst/>
            <a:cxnLst/>
            <a:rect l="l" t="t" r="r" b="b"/>
            <a:pathLst>
              <a:path w="15182416" h="7515296">
                <a:moveTo>
                  <a:pt x="0" y="0"/>
                </a:moveTo>
                <a:lnTo>
                  <a:pt x="15182416" y="0"/>
                </a:lnTo>
                <a:lnTo>
                  <a:pt x="15182416" y="7515296"/>
                </a:lnTo>
                <a:lnTo>
                  <a:pt x="0" y="7515296"/>
                </a:lnTo>
                <a:lnTo>
                  <a:pt x="0" y="0"/>
                </a:lnTo>
                <a:close/>
              </a:path>
            </a:pathLst>
          </a:custGeom>
          <a:blipFill>
            <a:blip r:embed="rId2"/>
            <a:stretch>
              <a:fillRect/>
            </a:stretch>
          </a:blipFill>
        </p:spPr>
      </p:sp>
      <p:sp>
        <p:nvSpPr>
          <p:cNvPr id="5" name="TextBox 5"/>
          <p:cNvSpPr txBox="1"/>
          <p:nvPr/>
        </p:nvSpPr>
        <p:spPr>
          <a:xfrm>
            <a:off x="14091936" y="9510857"/>
            <a:ext cx="3167364" cy="8343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17</a:t>
            </a:r>
          </a:p>
          <a:p>
            <a:pPr algn="r">
              <a:lnSpc>
                <a:spcPts val="3359"/>
              </a:lnSpc>
            </a:pPr>
            <a:endParaRPr lang="en-US" sz="2400">
              <a:solidFill>
                <a:srgbClr val="344E41"/>
              </a:solidFill>
              <a:latin typeface="Raleway 1"/>
              <a:ea typeface="Raleway 1"/>
              <a:cs typeface="Raleway 1"/>
              <a:sym typeface="Raleway 1"/>
            </a:endParaRPr>
          </a:p>
        </p:txBody>
      </p:sp>
      <p:sp>
        <p:nvSpPr>
          <p:cNvPr id="6" name="TextBox 6"/>
          <p:cNvSpPr txBox="1"/>
          <p:nvPr/>
        </p:nvSpPr>
        <p:spPr>
          <a:xfrm>
            <a:off x="803232" y="441520"/>
            <a:ext cx="12675585" cy="787931"/>
          </a:xfrm>
          <a:prstGeom prst="rect">
            <a:avLst/>
          </a:prstGeom>
        </p:spPr>
        <p:txBody>
          <a:bodyPr lIns="0" tIns="0" rIns="0" bIns="0" rtlCol="0" anchor="t">
            <a:spAutoFit/>
          </a:bodyPr>
          <a:lstStyle/>
          <a:p>
            <a:pPr algn="l">
              <a:lnSpc>
                <a:spcPts val="6445"/>
              </a:lnSpc>
            </a:pPr>
            <a:r>
              <a:rPr lang="en-US" sz="4604">
                <a:solidFill>
                  <a:srgbClr val="344E41"/>
                </a:solidFill>
                <a:latin typeface="Prata"/>
                <a:ea typeface="Prata"/>
                <a:cs typeface="Prata"/>
                <a:sym typeface="Prata"/>
              </a:rPr>
              <a:t>OPTIMIZATION &amp; VISUALIZATION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TextBox 4"/>
          <p:cNvSpPr txBox="1"/>
          <p:nvPr/>
        </p:nvSpPr>
        <p:spPr>
          <a:xfrm>
            <a:off x="14091936" y="9510857"/>
            <a:ext cx="3167364" cy="8343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18</a:t>
            </a:r>
          </a:p>
          <a:p>
            <a:pPr algn="r">
              <a:lnSpc>
                <a:spcPts val="3359"/>
              </a:lnSpc>
            </a:pPr>
            <a:endParaRPr lang="en-US" sz="2400">
              <a:solidFill>
                <a:srgbClr val="344E41"/>
              </a:solidFill>
              <a:latin typeface="Raleway 1"/>
              <a:ea typeface="Raleway 1"/>
              <a:cs typeface="Raleway 1"/>
              <a:sym typeface="Raleway 1"/>
            </a:endParaRPr>
          </a:p>
        </p:txBody>
      </p:sp>
      <p:sp>
        <p:nvSpPr>
          <p:cNvPr id="5" name="TextBox 5"/>
          <p:cNvSpPr txBox="1"/>
          <p:nvPr/>
        </p:nvSpPr>
        <p:spPr>
          <a:xfrm>
            <a:off x="1200592" y="570548"/>
            <a:ext cx="6919931" cy="821055"/>
          </a:xfrm>
          <a:prstGeom prst="rect">
            <a:avLst/>
          </a:prstGeom>
        </p:spPr>
        <p:txBody>
          <a:bodyPr lIns="0" tIns="0" rIns="0" bIns="0" rtlCol="0" anchor="t">
            <a:spAutoFit/>
          </a:bodyPr>
          <a:lstStyle/>
          <a:p>
            <a:pPr algn="l">
              <a:lnSpc>
                <a:spcPts val="6719"/>
              </a:lnSpc>
            </a:pPr>
            <a:r>
              <a:rPr lang="en-US" sz="4800">
                <a:solidFill>
                  <a:srgbClr val="344E41"/>
                </a:solidFill>
                <a:latin typeface="Prata"/>
                <a:ea typeface="Prata"/>
                <a:cs typeface="Prata"/>
                <a:sym typeface="Prata"/>
              </a:rPr>
              <a:t>CONCLUSION</a:t>
            </a:r>
          </a:p>
        </p:txBody>
      </p:sp>
      <p:sp>
        <p:nvSpPr>
          <p:cNvPr id="6" name="TextBox 6"/>
          <p:cNvSpPr txBox="1"/>
          <p:nvPr/>
        </p:nvSpPr>
        <p:spPr>
          <a:xfrm>
            <a:off x="1179404" y="2485373"/>
            <a:ext cx="15929192" cy="5240055"/>
          </a:xfrm>
          <a:prstGeom prst="rect">
            <a:avLst/>
          </a:prstGeom>
        </p:spPr>
        <p:txBody>
          <a:bodyPr lIns="0" tIns="0" rIns="0" bIns="0" rtlCol="0" anchor="t">
            <a:spAutoFit/>
          </a:bodyPr>
          <a:lstStyle/>
          <a:p>
            <a:pPr marL="0" lvl="0" indent="0" algn="ctr">
              <a:lnSpc>
                <a:spcPts val="4128"/>
              </a:lnSpc>
              <a:spcBef>
                <a:spcPct val="0"/>
              </a:spcBef>
            </a:pPr>
            <a:r>
              <a:rPr lang="en-US" sz="2948">
                <a:solidFill>
                  <a:srgbClr val="000000"/>
                </a:solidFill>
                <a:latin typeface="Raleway 1"/>
                <a:ea typeface="Raleway 1"/>
                <a:cs typeface="Raleway 1"/>
                <a:sym typeface="Raleway 1"/>
              </a:rPr>
              <a:t>This project focused on optimising</a:t>
            </a:r>
            <a:r>
              <a:rPr lang="en-US" sz="2948" u="none" strike="noStrike">
                <a:solidFill>
                  <a:srgbClr val="000000"/>
                </a:solidFill>
                <a:latin typeface="Raleway 1"/>
                <a:ea typeface="Raleway 1"/>
                <a:cs typeface="Raleway 1"/>
                <a:sym typeface="Raleway 1"/>
              </a:rPr>
              <a:t> supply chain operations by integrating demand forecasting with inventory analysis. Using a real-world retail dataset, we conducted data understanding, preprocessing, feature engineering, and exploratory data analysis to identify demand patterns across categories, regions, and external factors such as weather conditions.</a:t>
            </a:r>
          </a:p>
          <a:p>
            <a:pPr marL="0" lvl="0" indent="0" algn="ctr">
              <a:lnSpc>
                <a:spcPts val="4128"/>
              </a:lnSpc>
              <a:spcBef>
                <a:spcPct val="0"/>
              </a:spcBef>
            </a:pPr>
            <a:endParaRPr lang="en-US" sz="2948" u="none" strike="noStrike">
              <a:solidFill>
                <a:srgbClr val="000000"/>
              </a:solidFill>
              <a:latin typeface="Raleway 1"/>
              <a:ea typeface="Raleway 1"/>
              <a:cs typeface="Raleway 1"/>
              <a:sym typeface="Raleway 1"/>
            </a:endParaRPr>
          </a:p>
          <a:p>
            <a:pPr marL="0" lvl="0" indent="0" algn="ctr">
              <a:lnSpc>
                <a:spcPts val="4128"/>
              </a:lnSpc>
              <a:spcBef>
                <a:spcPct val="0"/>
              </a:spcBef>
            </a:pPr>
            <a:r>
              <a:rPr lang="en-US" sz="2948" u="none" strike="noStrike">
                <a:solidFill>
                  <a:srgbClr val="000000"/>
                </a:solidFill>
                <a:latin typeface="Raleway 1"/>
                <a:ea typeface="Raleway 1"/>
                <a:cs typeface="Raleway 1"/>
                <a:sym typeface="Raleway 1"/>
              </a:rPr>
              <a:t>A Random Forest Regressor model was implemented to accurately forecast product demand. The model demonstrated excellent predictive performance with a high R² score (~0.99) and low RMSE (~8.61), indicating strong reliability and minimal prediction error.</a:t>
            </a:r>
          </a:p>
          <a:p>
            <a:pPr marL="0" lvl="0" indent="0" algn="ctr">
              <a:lnSpc>
                <a:spcPts val="4128"/>
              </a:lnSpc>
              <a:spcBef>
                <a:spcPct val="0"/>
              </a:spcBef>
            </a:pPr>
            <a:endParaRPr lang="en-US" sz="2948" u="none" strike="noStrike">
              <a:solidFill>
                <a:srgbClr val="000000"/>
              </a:solidFill>
              <a:latin typeface="Raleway 1"/>
              <a:ea typeface="Raleway 1"/>
              <a:cs typeface="Raleway 1"/>
              <a:sym typeface="Raleway 1"/>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TextBox 4"/>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19</a:t>
            </a:r>
          </a:p>
        </p:txBody>
      </p:sp>
      <p:sp>
        <p:nvSpPr>
          <p:cNvPr id="5" name="TextBox 5"/>
          <p:cNvSpPr txBox="1"/>
          <p:nvPr/>
        </p:nvSpPr>
        <p:spPr>
          <a:xfrm>
            <a:off x="1028700" y="1003865"/>
            <a:ext cx="14427561" cy="887807"/>
          </a:xfrm>
          <a:prstGeom prst="rect">
            <a:avLst/>
          </a:prstGeom>
        </p:spPr>
        <p:txBody>
          <a:bodyPr lIns="0" tIns="0" rIns="0" bIns="0" rtlCol="0" anchor="t">
            <a:spAutoFit/>
          </a:bodyPr>
          <a:lstStyle/>
          <a:p>
            <a:pPr algn="l">
              <a:lnSpc>
                <a:spcPts val="7240"/>
              </a:lnSpc>
            </a:pPr>
            <a:r>
              <a:rPr lang="en-US" sz="5171" dirty="0">
                <a:solidFill>
                  <a:srgbClr val="344E41"/>
                </a:solidFill>
                <a:latin typeface="Prata"/>
                <a:ea typeface="Prata"/>
                <a:cs typeface="Prata"/>
                <a:sym typeface="Prata"/>
              </a:rPr>
              <a:t>ACKNOWLEDGEMENT </a:t>
            </a:r>
          </a:p>
        </p:txBody>
      </p:sp>
      <p:sp>
        <p:nvSpPr>
          <p:cNvPr id="6" name="TextBox 6"/>
          <p:cNvSpPr txBox="1"/>
          <p:nvPr/>
        </p:nvSpPr>
        <p:spPr>
          <a:xfrm>
            <a:off x="1028700" y="2175402"/>
            <a:ext cx="15747516" cy="2060629"/>
          </a:xfrm>
          <a:prstGeom prst="rect">
            <a:avLst/>
          </a:prstGeom>
        </p:spPr>
        <p:txBody>
          <a:bodyPr wrap="square" lIns="0" tIns="0" rIns="0" bIns="0" rtlCol="0" anchor="t">
            <a:spAutoFit/>
          </a:bodyPr>
          <a:lstStyle/>
          <a:p>
            <a:pPr algn="l">
              <a:lnSpc>
                <a:spcPts val="4060"/>
              </a:lnSpc>
            </a:pPr>
            <a:r>
              <a:rPr lang="en-US" sz="2900" dirty="0">
                <a:solidFill>
                  <a:srgbClr val="000000"/>
                </a:solidFill>
                <a:latin typeface="Raleway 2"/>
                <a:ea typeface="Raleway 2"/>
                <a:cs typeface="Raleway 2"/>
                <a:sym typeface="Raleway 2"/>
              </a:rPr>
              <a:t>We sincerely acknowledge Mr. Vikas Choudhary Sir for giving us the opportunity to work on this project and for his valuable guidance throughout the process.</a:t>
            </a:r>
          </a:p>
          <a:p>
            <a:pPr algn="l">
              <a:lnSpc>
                <a:spcPts val="4060"/>
              </a:lnSpc>
            </a:pPr>
            <a:r>
              <a:rPr lang="en-US" sz="2900" dirty="0">
                <a:solidFill>
                  <a:srgbClr val="000000"/>
                </a:solidFill>
                <a:latin typeface="Raleway 2"/>
                <a:ea typeface="Raleway 2"/>
                <a:cs typeface="Raleway 2"/>
                <a:sym typeface="Raleway 2"/>
              </a:rPr>
              <a:t> His support and encouragement helped us successfully complete this project and enhance our learning experience.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4" name="TextBox 4"/>
          <p:cNvSpPr txBox="1"/>
          <p:nvPr/>
        </p:nvSpPr>
        <p:spPr>
          <a:xfrm>
            <a:off x="14091936" y="9510857"/>
            <a:ext cx="3167364" cy="1253490"/>
          </a:xfrm>
          <a:prstGeom prst="rect">
            <a:avLst/>
          </a:prstGeom>
        </p:spPr>
        <p:txBody>
          <a:bodyPr lIns="0" tIns="0" rIns="0" bIns="0" rtlCol="0" anchor="t">
            <a:spAutoFit/>
          </a:bodyPr>
          <a:lstStyle/>
          <a:p>
            <a:pPr algn="r">
              <a:lnSpc>
                <a:spcPts val="3359"/>
              </a:lnSpc>
            </a:pPr>
            <a:r>
              <a:rPr lang="en-US" sz="2400">
                <a:solidFill>
                  <a:srgbClr val="344E41"/>
                </a:solidFill>
                <a:latin typeface="Raleway 1"/>
                <a:ea typeface="Raleway 1"/>
                <a:cs typeface="Raleway 1"/>
                <a:sym typeface="Raleway 1"/>
              </a:rPr>
              <a:t>20</a:t>
            </a:r>
          </a:p>
          <a:p>
            <a:pPr algn="r">
              <a:lnSpc>
                <a:spcPts val="3359"/>
              </a:lnSpc>
            </a:pPr>
            <a:endParaRPr lang="en-US" sz="2400">
              <a:solidFill>
                <a:srgbClr val="344E41"/>
              </a:solidFill>
              <a:latin typeface="Raleway 1"/>
              <a:ea typeface="Raleway 1"/>
              <a:cs typeface="Raleway 1"/>
              <a:sym typeface="Raleway 1"/>
            </a:endParaRPr>
          </a:p>
          <a:p>
            <a:pPr algn="r">
              <a:lnSpc>
                <a:spcPts val="3359"/>
              </a:lnSpc>
            </a:pPr>
            <a:endParaRPr lang="en-US" sz="2400">
              <a:solidFill>
                <a:srgbClr val="344E41"/>
              </a:solidFill>
              <a:latin typeface="Raleway 1"/>
              <a:ea typeface="Raleway 1"/>
              <a:cs typeface="Raleway 1"/>
              <a:sym typeface="Raleway 1"/>
            </a:endParaRPr>
          </a:p>
        </p:txBody>
      </p:sp>
      <p:sp>
        <p:nvSpPr>
          <p:cNvPr id="5" name="TextBox 5"/>
          <p:cNvSpPr txBox="1"/>
          <p:nvPr/>
        </p:nvSpPr>
        <p:spPr>
          <a:xfrm>
            <a:off x="1028700" y="532900"/>
            <a:ext cx="14427561" cy="887807"/>
          </a:xfrm>
          <a:prstGeom prst="rect">
            <a:avLst/>
          </a:prstGeom>
        </p:spPr>
        <p:txBody>
          <a:bodyPr lIns="0" tIns="0" rIns="0" bIns="0" rtlCol="0" anchor="t">
            <a:spAutoFit/>
          </a:bodyPr>
          <a:lstStyle/>
          <a:p>
            <a:pPr algn="l">
              <a:lnSpc>
                <a:spcPts val="7240"/>
              </a:lnSpc>
            </a:pPr>
            <a:r>
              <a:rPr lang="en-US" sz="5171">
                <a:solidFill>
                  <a:srgbClr val="344E41"/>
                </a:solidFill>
                <a:latin typeface="Prata"/>
                <a:ea typeface="Prata"/>
                <a:cs typeface="Prata"/>
                <a:sym typeface="Prata"/>
              </a:rPr>
              <a:t>REFERENCES</a:t>
            </a:r>
          </a:p>
        </p:txBody>
      </p:sp>
      <p:sp>
        <p:nvSpPr>
          <p:cNvPr id="6" name="TextBox 6"/>
          <p:cNvSpPr txBox="1"/>
          <p:nvPr/>
        </p:nvSpPr>
        <p:spPr>
          <a:xfrm>
            <a:off x="826110" y="2442829"/>
            <a:ext cx="16665118" cy="2271678"/>
          </a:xfrm>
          <a:prstGeom prst="rect">
            <a:avLst/>
          </a:prstGeom>
        </p:spPr>
        <p:txBody>
          <a:bodyPr lIns="0" tIns="0" rIns="0" bIns="0" rtlCol="0" anchor="t">
            <a:spAutoFit/>
          </a:bodyPr>
          <a:lstStyle/>
          <a:p>
            <a:pPr marL="706131" lvl="1" indent="-353065" algn="just">
              <a:lnSpc>
                <a:spcPts val="4219"/>
              </a:lnSpc>
              <a:buFont typeface="Arial"/>
              <a:buChar char="•"/>
            </a:pPr>
            <a:r>
              <a:rPr lang="en-US" sz="3270" spc="-71">
                <a:solidFill>
                  <a:srgbClr val="000000"/>
                </a:solidFill>
                <a:latin typeface="Raleway 1"/>
                <a:ea typeface="Raleway 1"/>
                <a:cs typeface="Raleway 1"/>
                <a:sym typeface="Raleway 1"/>
              </a:rPr>
              <a:t>Dataset: https://www.kaggle.com/datasets/programmer3/retail-and-supply-chain-operations-data</a:t>
            </a:r>
          </a:p>
          <a:p>
            <a:pPr algn="just">
              <a:lnSpc>
                <a:spcPts val="4905"/>
              </a:lnSpc>
            </a:pPr>
            <a:endParaRPr lang="en-US" sz="3270" spc="-71">
              <a:solidFill>
                <a:srgbClr val="000000"/>
              </a:solidFill>
              <a:latin typeface="Raleway 1"/>
              <a:ea typeface="Raleway 1"/>
              <a:cs typeface="Raleway 1"/>
              <a:sym typeface="Raleway 1"/>
            </a:endParaRPr>
          </a:p>
          <a:p>
            <a:pPr marL="706131" lvl="1" indent="-353065" algn="just">
              <a:lnSpc>
                <a:spcPts val="4905"/>
              </a:lnSpc>
              <a:buFont typeface="Arial"/>
              <a:buChar char="•"/>
            </a:pPr>
            <a:r>
              <a:rPr lang="en-US" sz="3270">
                <a:solidFill>
                  <a:srgbClr val="000000"/>
                </a:solidFill>
                <a:latin typeface="Raleway 1"/>
                <a:ea typeface="Raleway 1"/>
                <a:cs typeface="Raleway 1"/>
                <a:sym typeface="Raleway 1"/>
              </a:rPr>
              <a:t>Github repository: https://github.com/Pankhuri1709/Open-Sources-Tools-Project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776554" y="3664369"/>
            <a:ext cx="12734892" cy="2966085"/>
          </a:xfrm>
          <a:prstGeom prst="rect">
            <a:avLst/>
          </a:prstGeom>
        </p:spPr>
        <p:txBody>
          <a:bodyPr lIns="0" tIns="0" rIns="0" bIns="0" rtlCol="0" anchor="t">
            <a:spAutoFit/>
          </a:bodyPr>
          <a:lstStyle/>
          <a:p>
            <a:pPr algn="ctr">
              <a:lnSpc>
                <a:spcPts val="11400"/>
              </a:lnSpc>
            </a:pPr>
            <a:r>
              <a:rPr lang="en-US" sz="11400">
                <a:solidFill>
                  <a:srgbClr val="344E41"/>
                </a:solidFill>
                <a:latin typeface="Prata"/>
                <a:ea typeface="Prata"/>
                <a:cs typeface="Prata"/>
                <a:sym typeface="Prata"/>
              </a:rPr>
              <a:t>THANK YOU FOR LISTENING</a:t>
            </a:r>
          </a:p>
        </p:txBody>
      </p:sp>
      <p:sp>
        <p:nvSpPr>
          <p:cNvPr id="3" name="TextBox 3"/>
          <p:cNvSpPr txBox="1"/>
          <p:nvPr/>
        </p:nvSpPr>
        <p:spPr>
          <a:xfrm>
            <a:off x="2776554" y="2418989"/>
            <a:ext cx="12734892" cy="854075"/>
          </a:xfrm>
          <a:prstGeom prst="rect">
            <a:avLst/>
          </a:prstGeom>
        </p:spPr>
        <p:txBody>
          <a:bodyPr lIns="0" tIns="0" rIns="0" bIns="0" rtlCol="0" anchor="t">
            <a:spAutoFit/>
          </a:bodyPr>
          <a:lstStyle/>
          <a:p>
            <a:pPr algn="ctr">
              <a:lnSpc>
                <a:spcPts val="7000"/>
              </a:lnSpc>
            </a:pPr>
            <a:r>
              <a:rPr lang="en-US" sz="5000">
                <a:solidFill>
                  <a:srgbClr val="344E41"/>
                </a:solidFill>
                <a:latin typeface="Prata"/>
                <a:ea typeface="Prata"/>
                <a:cs typeface="Prata"/>
                <a:sym typeface="Prata"/>
              </a:rPr>
              <a:t>THE END</a:t>
            </a:r>
          </a:p>
        </p:txBody>
      </p:sp>
      <p:grpSp>
        <p:nvGrpSpPr>
          <p:cNvPr id="4" name="Group 4"/>
          <p:cNvGrpSpPr/>
          <p:nvPr/>
        </p:nvGrpSpPr>
        <p:grpSpPr>
          <a:xfrm>
            <a:off x="0" y="9258300"/>
            <a:ext cx="18288000" cy="1028700"/>
            <a:chOff x="0" y="0"/>
            <a:chExt cx="12372622" cy="695960"/>
          </a:xfrm>
        </p:grpSpPr>
        <p:sp>
          <p:nvSpPr>
            <p:cNvPr id="5" name="Freeform 5"/>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6" name="TextBox 6"/>
          <p:cNvSpPr txBox="1"/>
          <p:nvPr/>
        </p:nvSpPr>
        <p:spPr>
          <a:xfrm>
            <a:off x="6187109" y="7760110"/>
            <a:ext cx="5913783" cy="986155"/>
          </a:xfrm>
          <a:prstGeom prst="rect">
            <a:avLst/>
          </a:prstGeom>
        </p:spPr>
        <p:txBody>
          <a:bodyPr lIns="0" tIns="0" rIns="0" bIns="0" rtlCol="0" anchor="t">
            <a:spAutoFit/>
          </a:bodyPr>
          <a:lstStyle/>
          <a:p>
            <a:pPr algn="ctr">
              <a:lnSpc>
                <a:spcPts val="3919"/>
              </a:lnSpc>
            </a:pPr>
            <a:r>
              <a:rPr lang="en-US" sz="2799">
                <a:solidFill>
                  <a:srgbClr val="000000"/>
                </a:solidFill>
                <a:latin typeface="Raleway 1"/>
                <a:ea typeface="Raleway 1"/>
                <a:cs typeface="Raleway 1"/>
                <a:sym typeface="Raleway 1"/>
              </a:rPr>
              <a:t>Marjari Pusadkar</a:t>
            </a:r>
          </a:p>
          <a:p>
            <a:pPr algn="ctr">
              <a:lnSpc>
                <a:spcPts val="3919"/>
              </a:lnSpc>
            </a:pPr>
            <a:r>
              <a:rPr lang="en-US" sz="2799">
                <a:solidFill>
                  <a:srgbClr val="000000"/>
                </a:solidFill>
                <a:latin typeface="Raleway 1"/>
                <a:ea typeface="Raleway 1"/>
                <a:cs typeface="Raleway 1"/>
                <a:sym typeface="Raleway 1"/>
              </a:rPr>
              <a:t>23030124031</a:t>
            </a:r>
          </a:p>
        </p:txBody>
      </p:sp>
      <p:sp>
        <p:nvSpPr>
          <p:cNvPr id="7" name="TextBox 7"/>
          <p:cNvSpPr txBox="1"/>
          <p:nvPr/>
        </p:nvSpPr>
        <p:spPr>
          <a:xfrm>
            <a:off x="14091936" y="7760110"/>
            <a:ext cx="3167364" cy="986155"/>
          </a:xfrm>
          <a:prstGeom prst="rect">
            <a:avLst/>
          </a:prstGeom>
        </p:spPr>
        <p:txBody>
          <a:bodyPr lIns="0" tIns="0" rIns="0" bIns="0" rtlCol="0" anchor="t">
            <a:spAutoFit/>
          </a:bodyPr>
          <a:lstStyle/>
          <a:p>
            <a:pPr algn="r">
              <a:lnSpc>
                <a:spcPts val="3919"/>
              </a:lnSpc>
            </a:pPr>
            <a:r>
              <a:rPr lang="en-US" sz="2799">
                <a:solidFill>
                  <a:srgbClr val="000000"/>
                </a:solidFill>
                <a:latin typeface="Raleway 1"/>
                <a:ea typeface="Raleway 1"/>
                <a:cs typeface="Raleway 1"/>
                <a:sym typeface="Raleway 1"/>
              </a:rPr>
              <a:t>Sanchi Mittal</a:t>
            </a:r>
          </a:p>
          <a:p>
            <a:pPr algn="r">
              <a:lnSpc>
                <a:spcPts val="3919"/>
              </a:lnSpc>
            </a:pPr>
            <a:r>
              <a:rPr lang="en-US" sz="2799">
                <a:solidFill>
                  <a:srgbClr val="000000"/>
                </a:solidFill>
                <a:latin typeface="Raleway 1"/>
                <a:ea typeface="Raleway 1"/>
                <a:cs typeface="Raleway 1"/>
                <a:sym typeface="Raleway 1"/>
              </a:rPr>
              <a:t>23030124265</a:t>
            </a:r>
          </a:p>
        </p:txBody>
      </p:sp>
      <p:sp>
        <p:nvSpPr>
          <p:cNvPr id="8" name="TextBox 8"/>
          <p:cNvSpPr txBox="1"/>
          <p:nvPr/>
        </p:nvSpPr>
        <p:spPr>
          <a:xfrm>
            <a:off x="1028700" y="7760110"/>
            <a:ext cx="2956891" cy="986155"/>
          </a:xfrm>
          <a:prstGeom prst="rect">
            <a:avLst/>
          </a:prstGeom>
        </p:spPr>
        <p:txBody>
          <a:bodyPr lIns="0" tIns="0" rIns="0" bIns="0" rtlCol="0" anchor="t">
            <a:spAutoFit/>
          </a:bodyPr>
          <a:lstStyle/>
          <a:p>
            <a:pPr algn="l">
              <a:lnSpc>
                <a:spcPts val="3919"/>
              </a:lnSpc>
            </a:pPr>
            <a:r>
              <a:rPr lang="en-US" sz="2799">
                <a:solidFill>
                  <a:srgbClr val="000000"/>
                </a:solidFill>
                <a:latin typeface="Raleway 1"/>
                <a:ea typeface="Raleway 1"/>
                <a:cs typeface="Raleway 1"/>
                <a:sym typeface="Raleway 1"/>
              </a:rPr>
              <a:t>Pankhuri Jain</a:t>
            </a:r>
          </a:p>
          <a:p>
            <a:pPr algn="l">
              <a:lnSpc>
                <a:spcPts val="3919"/>
              </a:lnSpc>
            </a:pPr>
            <a:r>
              <a:rPr lang="en-US" sz="2799">
                <a:solidFill>
                  <a:srgbClr val="000000"/>
                </a:solidFill>
                <a:latin typeface="Raleway 1"/>
                <a:ea typeface="Raleway 1"/>
                <a:cs typeface="Raleway 1"/>
                <a:sym typeface="Raleway 1"/>
              </a:rPr>
              <a:t>23030124029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880</Words>
  <Application>Microsoft Office PowerPoint</Application>
  <PresentationFormat>Custom</PresentationFormat>
  <Paragraphs>149</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Raleway 1</vt:lpstr>
      <vt:lpstr>Raleway 1 Bold</vt:lpstr>
      <vt:lpstr>Prata</vt:lpstr>
      <vt:lpstr>Raleway 2 Bold</vt:lpstr>
      <vt:lpstr>Raleway 2</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SOURCE TOOLS</dc:title>
  <cp:lastModifiedBy>Sanchi Mittal</cp:lastModifiedBy>
  <cp:revision>2</cp:revision>
  <dcterms:created xsi:type="dcterms:W3CDTF">2006-08-16T00:00:00Z</dcterms:created>
  <dcterms:modified xsi:type="dcterms:W3CDTF">2026-02-19T04:38:42Z</dcterms:modified>
  <dc:identifier>DAHBc5Qy5Xg</dc:identifier>
</cp:coreProperties>
</file>